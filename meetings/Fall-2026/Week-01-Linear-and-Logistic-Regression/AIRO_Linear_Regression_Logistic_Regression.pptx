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7" dt="2026-09-09T17:01:48.507"/>
    <p1510:client id="{1DC59439-757C-0AE2-B392-33935C3EB20B}" v="52" dt="2026-09-09T16:15:01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533156-0B79-4663-A0DD-677C15F40FD8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</dgm:pt>
    <dgm:pt modelId="{9E1C928B-ACE5-4E3C-AA36-D17BD1AD417B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Collect Data </a:t>
          </a:r>
          <a:endParaRPr lang="en-US"/>
        </a:p>
      </dgm:t>
    </dgm:pt>
    <dgm:pt modelId="{AC222BDA-AD33-4FF9-BDA4-59F7EFA72FBD}" type="parTrans" cxnId="{F88B47FC-DAAB-4E49-8A84-858C674322A6}">
      <dgm:prSet/>
      <dgm:spPr/>
    </dgm:pt>
    <dgm:pt modelId="{83C79D36-87EF-477B-A6E0-F956B19FB95B}" type="sibTrans" cxnId="{F88B47FC-DAAB-4E49-8A84-858C674322A6}">
      <dgm:prSet/>
      <dgm:spPr/>
      <dgm:t>
        <a:bodyPr/>
        <a:lstStyle/>
        <a:p>
          <a:endParaRPr lang="en-US"/>
        </a:p>
      </dgm:t>
    </dgm:pt>
    <dgm:pt modelId="{29A49175-BAD8-48BF-ABE0-5BAEDC85BBAB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Select Features and Labels</a:t>
          </a:r>
          <a:endParaRPr lang="en-US"/>
        </a:p>
      </dgm:t>
    </dgm:pt>
    <dgm:pt modelId="{3CBE1D51-25E0-47F3-883F-9B509C805991}" type="parTrans" cxnId="{A95B17BA-FA1B-408A-B0C0-05C7526C0E7B}">
      <dgm:prSet/>
      <dgm:spPr/>
    </dgm:pt>
    <dgm:pt modelId="{AF0967CA-3096-40BE-9609-19F9C8D44ADD}" type="sibTrans" cxnId="{A95B17BA-FA1B-408A-B0C0-05C7526C0E7B}">
      <dgm:prSet/>
      <dgm:spPr/>
      <dgm:t>
        <a:bodyPr/>
        <a:lstStyle/>
        <a:p>
          <a:endParaRPr lang="en-US"/>
        </a:p>
      </dgm:t>
    </dgm:pt>
    <dgm:pt modelId="{667D4296-4DB4-41FB-A94C-C8C463BD026B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Split Training/Testing Data</a:t>
          </a:r>
          <a:endParaRPr lang="en-US"/>
        </a:p>
      </dgm:t>
    </dgm:pt>
    <dgm:pt modelId="{A6CF1A55-C39F-4AF0-95D6-538C800D6C31}" type="parTrans" cxnId="{7D5D8646-DD13-436F-B275-BD2DD77BE8B8}">
      <dgm:prSet/>
      <dgm:spPr/>
    </dgm:pt>
    <dgm:pt modelId="{5098D18A-ADE7-4351-B2B5-EE29EE7EF0CE}" type="sibTrans" cxnId="{7D5D8646-DD13-436F-B275-BD2DD77BE8B8}">
      <dgm:prSet/>
      <dgm:spPr/>
      <dgm:t>
        <a:bodyPr/>
        <a:lstStyle/>
        <a:p>
          <a:endParaRPr lang="en-US"/>
        </a:p>
      </dgm:t>
    </dgm:pt>
    <dgm:pt modelId="{734F4731-1B2F-4D72-8420-51F99A1FC70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Choose Model Type</a:t>
          </a:r>
        </a:p>
      </dgm:t>
    </dgm:pt>
    <dgm:pt modelId="{D1E5200D-2F04-4C47-91F6-59BA214FC1E0}" type="parTrans" cxnId="{F186B0E0-CFF6-45A9-998C-D670A9097DF9}">
      <dgm:prSet/>
      <dgm:spPr/>
    </dgm:pt>
    <dgm:pt modelId="{8E316319-2FC9-4B98-9233-6F70A3962359}" type="sibTrans" cxnId="{F186B0E0-CFF6-45A9-998C-D670A9097DF9}">
      <dgm:prSet/>
      <dgm:spPr/>
      <dgm:t>
        <a:bodyPr/>
        <a:lstStyle/>
        <a:p>
          <a:endParaRPr lang="en-US"/>
        </a:p>
      </dgm:t>
    </dgm:pt>
    <dgm:pt modelId="{CB5765B2-6056-4607-AF94-4F7410029026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Train the Model</a:t>
          </a:r>
        </a:p>
      </dgm:t>
    </dgm:pt>
    <dgm:pt modelId="{DD7627E1-DF00-47AC-96FC-06088E7A9FBE}" type="parTrans" cxnId="{778C1014-E9CA-4695-8A7E-53613D6BF6D2}">
      <dgm:prSet/>
      <dgm:spPr/>
    </dgm:pt>
    <dgm:pt modelId="{4EE25B8E-12DA-4B62-8825-7416449D6FA6}" type="sibTrans" cxnId="{778C1014-E9CA-4695-8A7E-53613D6BF6D2}">
      <dgm:prSet/>
      <dgm:spPr/>
      <dgm:t>
        <a:bodyPr/>
        <a:lstStyle/>
        <a:p>
          <a:endParaRPr lang="en-US"/>
        </a:p>
      </dgm:t>
    </dgm:pt>
    <dgm:pt modelId="{3E5FF20D-6001-4771-A13A-6063681A158C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Make Prediction</a:t>
          </a:r>
        </a:p>
      </dgm:t>
    </dgm:pt>
    <dgm:pt modelId="{1A551FC4-4207-4DD1-8DC5-92C101E9C310}" type="parTrans" cxnId="{BE0DCEFC-68F1-4951-A4B4-5C54436B8368}">
      <dgm:prSet/>
      <dgm:spPr/>
    </dgm:pt>
    <dgm:pt modelId="{29C34837-AE96-4EF8-B952-0231306E8B28}" type="sibTrans" cxnId="{BE0DCEFC-68F1-4951-A4B4-5C54436B8368}">
      <dgm:prSet/>
      <dgm:spPr/>
      <dgm:t>
        <a:bodyPr/>
        <a:lstStyle/>
        <a:p>
          <a:endParaRPr lang="en-US"/>
        </a:p>
      </dgm:t>
    </dgm:pt>
    <dgm:pt modelId="{A9222C6B-08CF-4ADF-A435-AD0DC4AF1FB4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Evaluate Results</a:t>
          </a:r>
        </a:p>
      </dgm:t>
    </dgm:pt>
    <dgm:pt modelId="{EB322959-154F-4136-BB89-63DDD92C700C}" type="parTrans" cxnId="{D46F6F87-227D-47BB-BD22-5874C3E57AB5}">
      <dgm:prSet/>
      <dgm:spPr/>
    </dgm:pt>
    <dgm:pt modelId="{9E639387-4737-44F3-A364-A44007412BAE}" type="sibTrans" cxnId="{D46F6F87-227D-47BB-BD22-5874C3E57AB5}">
      <dgm:prSet/>
      <dgm:spPr/>
      <dgm:t>
        <a:bodyPr/>
        <a:lstStyle/>
        <a:p>
          <a:endParaRPr lang="en-US"/>
        </a:p>
      </dgm:t>
    </dgm:pt>
    <dgm:pt modelId="{969DFE8D-0C45-4E79-B33B-207DF10461FC}" type="pres">
      <dgm:prSet presAssocID="{13533156-0B79-4663-A0DD-677C15F40FD8}" presName="Name0" presStyleCnt="0">
        <dgm:presLayoutVars>
          <dgm:dir/>
          <dgm:resizeHandles val="exact"/>
        </dgm:presLayoutVars>
      </dgm:prSet>
      <dgm:spPr/>
    </dgm:pt>
    <dgm:pt modelId="{D38BDEE8-7EAA-408A-B754-E4F58186496B}" type="pres">
      <dgm:prSet presAssocID="{13533156-0B79-4663-A0DD-677C15F40FD8}" presName="cycle" presStyleCnt="0"/>
      <dgm:spPr/>
    </dgm:pt>
    <dgm:pt modelId="{70C9EF3C-FFC3-4EA6-8AC3-B33EBED83103}" type="pres">
      <dgm:prSet presAssocID="{9E1C928B-ACE5-4E3C-AA36-D17BD1AD417B}" presName="nodeFirstNode" presStyleLbl="node1" presStyleIdx="0" presStyleCnt="7">
        <dgm:presLayoutVars>
          <dgm:bulletEnabled val="1"/>
        </dgm:presLayoutVars>
      </dgm:prSet>
      <dgm:spPr/>
    </dgm:pt>
    <dgm:pt modelId="{E062E595-D416-433A-A680-FF4801F48B5E}" type="pres">
      <dgm:prSet presAssocID="{83C79D36-87EF-477B-A6E0-F956B19FB95B}" presName="sibTransFirstNode" presStyleLbl="bgShp" presStyleIdx="0" presStyleCnt="1"/>
      <dgm:spPr/>
    </dgm:pt>
    <dgm:pt modelId="{7A7CA426-8BB1-4200-9BBF-2C5BAEDCBDD8}" type="pres">
      <dgm:prSet presAssocID="{29A49175-BAD8-48BF-ABE0-5BAEDC85BBAB}" presName="nodeFollowingNodes" presStyleLbl="node1" presStyleIdx="1" presStyleCnt="7">
        <dgm:presLayoutVars>
          <dgm:bulletEnabled val="1"/>
        </dgm:presLayoutVars>
      </dgm:prSet>
      <dgm:spPr/>
    </dgm:pt>
    <dgm:pt modelId="{2F65B56B-A3CC-4C8D-BD30-213B4674462D}" type="pres">
      <dgm:prSet presAssocID="{667D4296-4DB4-41FB-A94C-C8C463BD026B}" presName="nodeFollowingNodes" presStyleLbl="node1" presStyleIdx="2" presStyleCnt="7">
        <dgm:presLayoutVars>
          <dgm:bulletEnabled val="1"/>
        </dgm:presLayoutVars>
      </dgm:prSet>
      <dgm:spPr/>
    </dgm:pt>
    <dgm:pt modelId="{AA92438F-3F53-4B2A-8BC6-950445463085}" type="pres">
      <dgm:prSet presAssocID="{734F4731-1B2F-4D72-8420-51F99A1FC707}" presName="nodeFollowingNodes" presStyleLbl="node1" presStyleIdx="3" presStyleCnt="7">
        <dgm:presLayoutVars>
          <dgm:bulletEnabled val="1"/>
        </dgm:presLayoutVars>
      </dgm:prSet>
      <dgm:spPr/>
    </dgm:pt>
    <dgm:pt modelId="{40B7866B-3B2E-401C-8D63-15FC4906166F}" type="pres">
      <dgm:prSet presAssocID="{CB5765B2-6056-4607-AF94-4F7410029026}" presName="nodeFollowingNodes" presStyleLbl="node1" presStyleIdx="4" presStyleCnt="7">
        <dgm:presLayoutVars>
          <dgm:bulletEnabled val="1"/>
        </dgm:presLayoutVars>
      </dgm:prSet>
      <dgm:spPr/>
    </dgm:pt>
    <dgm:pt modelId="{6251E850-6A96-4222-94E0-598EF11BD7B8}" type="pres">
      <dgm:prSet presAssocID="{3E5FF20D-6001-4771-A13A-6063681A158C}" presName="nodeFollowingNodes" presStyleLbl="node1" presStyleIdx="5" presStyleCnt="7">
        <dgm:presLayoutVars>
          <dgm:bulletEnabled val="1"/>
        </dgm:presLayoutVars>
      </dgm:prSet>
      <dgm:spPr/>
    </dgm:pt>
    <dgm:pt modelId="{D12BFB34-3FB5-4351-8C13-F0DA37C7701B}" type="pres">
      <dgm:prSet presAssocID="{A9222C6B-08CF-4ADF-A435-AD0DC4AF1FB4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8A064209-1C0D-4D40-B493-F5FC8ACA6064}" type="presOf" srcId="{13533156-0B79-4663-A0DD-677C15F40FD8}" destId="{969DFE8D-0C45-4E79-B33B-207DF10461FC}" srcOrd="0" destOrd="0" presId="urn:microsoft.com/office/officeart/2005/8/layout/cycle3"/>
    <dgm:cxn modelId="{778C1014-E9CA-4695-8A7E-53613D6BF6D2}" srcId="{13533156-0B79-4663-A0DD-677C15F40FD8}" destId="{CB5765B2-6056-4607-AF94-4F7410029026}" srcOrd="4" destOrd="0" parTransId="{DD7627E1-DF00-47AC-96FC-06088E7A9FBE}" sibTransId="{4EE25B8E-12DA-4B62-8825-7416449D6FA6}"/>
    <dgm:cxn modelId="{7D5D8646-DD13-436F-B275-BD2DD77BE8B8}" srcId="{13533156-0B79-4663-A0DD-677C15F40FD8}" destId="{667D4296-4DB4-41FB-A94C-C8C463BD026B}" srcOrd="2" destOrd="0" parTransId="{A6CF1A55-C39F-4AF0-95D6-538C800D6C31}" sibTransId="{5098D18A-ADE7-4351-B2B5-EE29EE7EF0CE}"/>
    <dgm:cxn modelId="{DAB9D377-30EE-40A1-96E4-8D095AECD7EE}" type="presOf" srcId="{734F4731-1B2F-4D72-8420-51F99A1FC707}" destId="{AA92438F-3F53-4B2A-8BC6-950445463085}" srcOrd="0" destOrd="0" presId="urn:microsoft.com/office/officeart/2005/8/layout/cycle3"/>
    <dgm:cxn modelId="{50C06A7B-20CB-4E48-8A59-D15F95CA1279}" type="presOf" srcId="{3E5FF20D-6001-4771-A13A-6063681A158C}" destId="{6251E850-6A96-4222-94E0-598EF11BD7B8}" srcOrd="0" destOrd="0" presId="urn:microsoft.com/office/officeart/2005/8/layout/cycle3"/>
    <dgm:cxn modelId="{D46F6F87-227D-47BB-BD22-5874C3E57AB5}" srcId="{13533156-0B79-4663-A0DD-677C15F40FD8}" destId="{A9222C6B-08CF-4ADF-A435-AD0DC4AF1FB4}" srcOrd="6" destOrd="0" parTransId="{EB322959-154F-4136-BB89-63DDD92C700C}" sibTransId="{9E639387-4737-44F3-A364-A44007412BAE}"/>
    <dgm:cxn modelId="{604FC48F-9AAD-4712-92F9-EDC0BDF69B69}" type="presOf" srcId="{A9222C6B-08CF-4ADF-A435-AD0DC4AF1FB4}" destId="{D12BFB34-3FB5-4351-8C13-F0DA37C7701B}" srcOrd="0" destOrd="0" presId="urn:microsoft.com/office/officeart/2005/8/layout/cycle3"/>
    <dgm:cxn modelId="{7056D78F-9B2C-469C-AD6A-54299B53C745}" type="presOf" srcId="{29A49175-BAD8-48BF-ABE0-5BAEDC85BBAB}" destId="{7A7CA426-8BB1-4200-9BBF-2C5BAEDCBDD8}" srcOrd="0" destOrd="0" presId="urn:microsoft.com/office/officeart/2005/8/layout/cycle3"/>
    <dgm:cxn modelId="{76F7D3A4-0BEF-4C19-A2A4-AE656337EDCA}" type="presOf" srcId="{CB5765B2-6056-4607-AF94-4F7410029026}" destId="{40B7866B-3B2E-401C-8D63-15FC4906166F}" srcOrd="0" destOrd="0" presId="urn:microsoft.com/office/officeart/2005/8/layout/cycle3"/>
    <dgm:cxn modelId="{A95B17BA-FA1B-408A-B0C0-05C7526C0E7B}" srcId="{13533156-0B79-4663-A0DD-677C15F40FD8}" destId="{29A49175-BAD8-48BF-ABE0-5BAEDC85BBAB}" srcOrd="1" destOrd="0" parTransId="{3CBE1D51-25E0-47F3-883F-9B509C805991}" sibTransId="{AF0967CA-3096-40BE-9609-19F9C8D44ADD}"/>
    <dgm:cxn modelId="{A898CDDB-BCD1-4471-904E-252AB0ED9D9D}" type="presOf" srcId="{83C79D36-87EF-477B-A6E0-F956B19FB95B}" destId="{E062E595-D416-433A-A680-FF4801F48B5E}" srcOrd="0" destOrd="0" presId="urn:microsoft.com/office/officeart/2005/8/layout/cycle3"/>
    <dgm:cxn modelId="{F186B0E0-CFF6-45A9-998C-D670A9097DF9}" srcId="{13533156-0B79-4663-A0DD-677C15F40FD8}" destId="{734F4731-1B2F-4D72-8420-51F99A1FC707}" srcOrd="3" destOrd="0" parTransId="{D1E5200D-2F04-4C47-91F6-59BA214FC1E0}" sibTransId="{8E316319-2FC9-4B98-9233-6F70A3962359}"/>
    <dgm:cxn modelId="{F458D7EA-0BE9-4AC1-83CA-B4E8BE2FC03B}" type="presOf" srcId="{667D4296-4DB4-41FB-A94C-C8C463BD026B}" destId="{2F65B56B-A3CC-4C8D-BD30-213B4674462D}" srcOrd="0" destOrd="0" presId="urn:microsoft.com/office/officeart/2005/8/layout/cycle3"/>
    <dgm:cxn modelId="{55EC03ED-4AA2-4C48-AD1E-BBC81B0027B3}" type="presOf" srcId="{9E1C928B-ACE5-4E3C-AA36-D17BD1AD417B}" destId="{70C9EF3C-FFC3-4EA6-8AC3-B33EBED83103}" srcOrd="0" destOrd="0" presId="urn:microsoft.com/office/officeart/2005/8/layout/cycle3"/>
    <dgm:cxn modelId="{F88B47FC-DAAB-4E49-8A84-858C674322A6}" srcId="{13533156-0B79-4663-A0DD-677C15F40FD8}" destId="{9E1C928B-ACE5-4E3C-AA36-D17BD1AD417B}" srcOrd="0" destOrd="0" parTransId="{AC222BDA-AD33-4FF9-BDA4-59F7EFA72FBD}" sibTransId="{83C79D36-87EF-477B-A6E0-F956B19FB95B}"/>
    <dgm:cxn modelId="{BE0DCEFC-68F1-4951-A4B4-5C54436B8368}" srcId="{13533156-0B79-4663-A0DD-677C15F40FD8}" destId="{3E5FF20D-6001-4771-A13A-6063681A158C}" srcOrd="5" destOrd="0" parTransId="{1A551FC4-4207-4DD1-8DC5-92C101E9C310}" sibTransId="{29C34837-AE96-4EF8-B952-0231306E8B28}"/>
    <dgm:cxn modelId="{799790A6-AAC5-42A0-81E2-115872F78FF7}" type="presParOf" srcId="{969DFE8D-0C45-4E79-B33B-207DF10461FC}" destId="{D38BDEE8-7EAA-408A-B754-E4F58186496B}" srcOrd="0" destOrd="0" presId="urn:microsoft.com/office/officeart/2005/8/layout/cycle3"/>
    <dgm:cxn modelId="{5AE2C1F8-AD70-43CD-8B20-453D602F3856}" type="presParOf" srcId="{D38BDEE8-7EAA-408A-B754-E4F58186496B}" destId="{70C9EF3C-FFC3-4EA6-8AC3-B33EBED83103}" srcOrd="0" destOrd="0" presId="urn:microsoft.com/office/officeart/2005/8/layout/cycle3"/>
    <dgm:cxn modelId="{DBBCBFB4-3298-4C39-A9B6-45DA57A8255E}" type="presParOf" srcId="{D38BDEE8-7EAA-408A-B754-E4F58186496B}" destId="{E062E595-D416-433A-A680-FF4801F48B5E}" srcOrd="1" destOrd="0" presId="urn:microsoft.com/office/officeart/2005/8/layout/cycle3"/>
    <dgm:cxn modelId="{573CA703-813C-44F9-88BB-01905618565B}" type="presParOf" srcId="{D38BDEE8-7EAA-408A-B754-E4F58186496B}" destId="{7A7CA426-8BB1-4200-9BBF-2C5BAEDCBDD8}" srcOrd="2" destOrd="0" presId="urn:microsoft.com/office/officeart/2005/8/layout/cycle3"/>
    <dgm:cxn modelId="{1614775B-A6F0-4F20-9EEF-1E0AD48477A6}" type="presParOf" srcId="{D38BDEE8-7EAA-408A-B754-E4F58186496B}" destId="{2F65B56B-A3CC-4C8D-BD30-213B4674462D}" srcOrd="3" destOrd="0" presId="urn:microsoft.com/office/officeart/2005/8/layout/cycle3"/>
    <dgm:cxn modelId="{D9D5C9A0-AC70-4B32-AEF4-3BE2AF4585CF}" type="presParOf" srcId="{D38BDEE8-7EAA-408A-B754-E4F58186496B}" destId="{AA92438F-3F53-4B2A-8BC6-950445463085}" srcOrd="4" destOrd="0" presId="urn:microsoft.com/office/officeart/2005/8/layout/cycle3"/>
    <dgm:cxn modelId="{B8ED2656-7A5C-49F5-8E09-341A2405528A}" type="presParOf" srcId="{D38BDEE8-7EAA-408A-B754-E4F58186496B}" destId="{40B7866B-3B2E-401C-8D63-15FC4906166F}" srcOrd="5" destOrd="0" presId="urn:microsoft.com/office/officeart/2005/8/layout/cycle3"/>
    <dgm:cxn modelId="{CFCB0EAB-123E-42CC-B596-8522227CE1F3}" type="presParOf" srcId="{D38BDEE8-7EAA-408A-B754-E4F58186496B}" destId="{6251E850-6A96-4222-94E0-598EF11BD7B8}" srcOrd="6" destOrd="0" presId="urn:microsoft.com/office/officeart/2005/8/layout/cycle3"/>
    <dgm:cxn modelId="{C1109A70-2432-4A77-868F-886B1D5487A0}" type="presParOf" srcId="{D38BDEE8-7EAA-408A-B754-E4F58186496B}" destId="{D12BFB34-3FB5-4351-8C13-F0DA37C7701B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2E595-D416-433A-A680-FF4801F48B5E}">
      <dsp:nvSpPr>
        <dsp:cNvPr id="0" name=""/>
        <dsp:cNvSpPr/>
      </dsp:nvSpPr>
      <dsp:spPr>
        <a:xfrm>
          <a:off x="3854354" y="-34884"/>
          <a:ext cx="5717731" cy="5717731"/>
        </a:xfrm>
        <a:prstGeom prst="circularArrow">
          <a:avLst>
            <a:gd name="adj1" fmla="val 5544"/>
            <a:gd name="adj2" fmla="val 330680"/>
            <a:gd name="adj3" fmla="val 14471704"/>
            <a:gd name="adj4" fmla="val 1697547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9EF3C-FFC3-4EA6-8AC3-B33EBED83103}">
      <dsp:nvSpPr>
        <dsp:cNvPr id="0" name=""/>
        <dsp:cNvSpPr/>
      </dsp:nvSpPr>
      <dsp:spPr>
        <a:xfrm>
          <a:off x="5795396" y="1204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Collect Data </a:t>
          </a:r>
          <a:endParaRPr lang="en-US" sz="1600" kern="1200"/>
        </a:p>
      </dsp:txBody>
      <dsp:txXfrm>
        <a:off x="5840200" y="46008"/>
        <a:ext cx="1746038" cy="828215"/>
      </dsp:txXfrm>
    </dsp:sp>
    <dsp:sp modelId="{7A7CA426-8BB1-4200-9BBF-2C5BAEDCBDD8}">
      <dsp:nvSpPr>
        <dsp:cNvPr id="0" name=""/>
        <dsp:cNvSpPr/>
      </dsp:nvSpPr>
      <dsp:spPr>
        <a:xfrm>
          <a:off x="7701709" y="919236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Select Features and Labels</a:t>
          </a:r>
          <a:endParaRPr lang="en-US" sz="1600" kern="1200"/>
        </a:p>
      </dsp:txBody>
      <dsp:txXfrm>
        <a:off x="7746513" y="964040"/>
        <a:ext cx="1746038" cy="828215"/>
      </dsp:txXfrm>
    </dsp:sp>
    <dsp:sp modelId="{2F65B56B-A3CC-4C8D-BD30-213B4674462D}">
      <dsp:nvSpPr>
        <dsp:cNvPr id="0" name=""/>
        <dsp:cNvSpPr/>
      </dsp:nvSpPr>
      <dsp:spPr>
        <a:xfrm>
          <a:off x="8172529" y="2982034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Split Training/Testing Data</a:t>
          </a:r>
          <a:endParaRPr lang="en-US" sz="1600" kern="1200"/>
        </a:p>
      </dsp:txBody>
      <dsp:txXfrm>
        <a:off x="8217333" y="3026838"/>
        <a:ext cx="1746038" cy="828215"/>
      </dsp:txXfrm>
    </dsp:sp>
    <dsp:sp modelId="{AA92438F-3F53-4B2A-8BC6-950445463085}">
      <dsp:nvSpPr>
        <dsp:cNvPr id="0" name=""/>
        <dsp:cNvSpPr/>
      </dsp:nvSpPr>
      <dsp:spPr>
        <a:xfrm>
          <a:off x="6853320" y="4636270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Choose Model Type</a:t>
          </a:r>
        </a:p>
      </dsp:txBody>
      <dsp:txXfrm>
        <a:off x="6898124" y="4681074"/>
        <a:ext cx="1746038" cy="828215"/>
      </dsp:txXfrm>
    </dsp:sp>
    <dsp:sp modelId="{40B7866B-3B2E-401C-8D63-15FC4906166F}">
      <dsp:nvSpPr>
        <dsp:cNvPr id="0" name=""/>
        <dsp:cNvSpPr/>
      </dsp:nvSpPr>
      <dsp:spPr>
        <a:xfrm>
          <a:off x="4737473" y="4636270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Train the Model</a:t>
          </a:r>
        </a:p>
      </dsp:txBody>
      <dsp:txXfrm>
        <a:off x="4782277" y="4681074"/>
        <a:ext cx="1746038" cy="828215"/>
      </dsp:txXfrm>
    </dsp:sp>
    <dsp:sp modelId="{6251E850-6A96-4222-94E0-598EF11BD7B8}">
      <dsp:nvSpPr>
        <dsp:cNvPr id="0" name=""/>
        <dsp:cNvSpPr/>
      </dsp:nvSpPr>
      <dsp:spPr>
        <a:xfrm>
          <a:off x="3418264" y="2982034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Make Prediction</a:t>
          </a:r>
        </a:p>
      </dsp:txBody>
      <dsp:txXfrm>
        <a:off x="3463068" y="3026838"/>
        <a:ext cx="1746038" cy="828215"/>
      </dsp:txXfrm>
    </dsp:sp>
    <dsp:sp modelId="{D12BFB34-3FB5-4351-8C13-F0DA37C7701B}">
      <dsp:nvSpPr>
        <dsp:cNvPr id="0" name=""/>
        <dsp:cNvSpPr/>
      </dsp:nvSpPr>
      <dsp:spPr>
        <a:xfrm>
          <a:off x="3889084" y="919236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Evaluate Results</a:t>
          </a:r>
        </a:p>
      </dsp:txBody>
      <dsp:txXfrm>
        <a:off x="3933888" y="964040"/>
        <a:ext cx="1746038" cy="8282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 Linear Regression +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AIRO – Week 1</a:t>
            </a:r>
          </a:p>
          <a:p>
            <a:r>
              <a:rPr lang="en-US" dirty="0"/>
              <a:t>Created By: Caden </a:t>
            </a:r>
            <a:r>
              <a:rPr lang="en-US" dirty="0" err="1"/>
              <a:t>Wondell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D52E-9AB5-4AB3-81F2-519AB7EB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&amp;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4168-8B00-5B75-36A6-0C9A57F7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83385"/>
            <a:ext cx="638556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Regression: </a:t>
            </a:r>
            <a:r>
              <a:rPr lang="en-US" dirty="0">
                <a:ea typeface="+mn-lt"/>
                <a:cs typeface="+mn-lt"/>
              </a:rPr>
              <a:t>Predicts a continuous numerical value. 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Examples: temperature, power consumption, battery life, network latency. 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Linear Regression: </a:t>
            </a:r>
            <a:r>
              <a:rPr lang="en-US" dirty="0">
                <a:ea typeface="+mn-lt"/>
                <a:cs typeface="+mn-lt"/>
              </a:rPr>
              <a:t>A simple regression model which finds the best-fit linear relationship between input and output to predict values</a:t>
            </a:r>
            <a:endParaRPr lang="en-US" dirty="0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AC5AD-E364-FC40-236E-192A898FD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706" y="2608043"/>
            <a:ext cx="3289091" cy="3560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DE9206-B189-183D-054F-4835A3AA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665" y="1047004"/>
            <a:ext cx="3211673" cy="307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6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D788-60CA-15D7-27DE-ECCB4C1B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Classification &amp; Logistic Regression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318C0-54A8-1AD3-65B1-D8C94B3FB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385"/>
            <a:ext cx="583362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Classification: </a:t>
            </a:r>
            <a:r>
              <a:rPr lang="en-US" dirty="0">
                <a:ea typeface="+mn-lt"/>
                <a:cs typeface="+mn-lt"/>
              </a:rPr>
              <a:t>Predicts a category or class. </a:t>
            </a:r>
            <a:endParaRPr lang="en-US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Examples: malicious/benign traffic, failure/no failure, spam/not spam.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Logistic Regression: </a:t>
            </a:r>
            <a:r>
              <a:rPr lang="en-US" dirty="0">
                <a:ea typeface="+mn-lt"/>
                <a:cs typeface="+mn-lt"/>
              </a:rPr>
              <a:t>A common model for binary classification. Predicts the probability that an input belongs to a class.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009F23-41DB-F787-3961-C877612C3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417" y="1673632"/>
            <a:ext cx="4217865" cy="376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939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F6C9-3F00-BD3D-34FE-A6E3DA2AF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662305"/>
            <a:ext cx="10515600" cy="746443"/>
          </a:xfrm>
        </p:spPr>
        <p:txBody>
          <a:bodyPr/>
          <a:lstStyle/>
          <a:p>
            <a:r>
              <a:rPr lang="en-US"/>
              <a:t>Regression vs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9E47-5EA3-B723-968E-CFEBC102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525"/>
            <a:ext cx="10515600" cy="502951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 algn="ctr">
              <a:buNone/>
            </a:pPr>
            <a:r>
              <a:rPr lang="en-US" sz="2400"/>
              <a:t>Ask yourself:</a:t>
            </a:r>
            <a:r>
              <a:rPr lang="en-US" sz="2400">
                <a:ea typeface="+mn-lt"/>
                <a:cs typeface="+mn-lt"/>
              </a:rPr>
              <a:t> Am I predicting a quantity or a category?</a:t>
            </a:r>
            <a:endParaRPr lang="en-US" sz="2400"/>
          </a:p>
          <a:p>
            <a:pPr marL="0" indent="0" algn="ctr">
              <a:buNone/>
            </a:pPr>
            <a:r>
              <a:rPr lang="en-US" sz="2400">
                <a:ea typeface="+mn-lt"/>
                <a:cs typeface="+mn-lt"/>
              </a:rPr>
              <a:t>Quantity → Regression </a:t>
            </a:r>
          </a:p>
          <a:p>
            <a:pPr marL="0" indent="0" algn="ctr">
              <a:buNone/>
            </a:pPr>
            <a:r>
              <a:rPr lang="en-US" sz="2400">
                <a:ea typeface="+mn-lt"/>
                <a:cs typeface="+mn-lt"/>
              </a:rPr>
              <a:t>Category → Classification</a:t>
            </a:r>
            <a:endParaRPr lang="en-US" sz="2400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973055-446F-929E-CCBA-1BAEDCD6229F}"/>
              </a:ext>
            </a:extLst>
          </p:cNvPr>
          <p:cNvGraphicFramePr>
            <a:graphicFrameLocks noGrp="1"/>
          </p:cNvGraphicFramePr>
          <p:nvPr/>
        </p:nvGraphicFramePr>
        <p:xfrm>
          <a:off x="1638300" y="1524000"/>
          <a:ext cx="8915400" cy="2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159269868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4189845864"/>
                    </a:ext>
                  </a:extLst>
                </a:gridCol>
              </a:tblGrid>
              <a:tr h="554888">
                <a:tc>
                  <a:txBody>
                    <a:bodyPr/>
                    <a:lstStyle/>
                    <a:p>
                      <a:r>
                        <a:rPr lang="en-US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738563"/>
                  </a:ext>
                </a:extLst>
              </a:tr>
              <a:tr h="554888">
                <a:tc>
                  <a:txBody>
                    <a:bodyPr/>
                    <a:lstStyle/>
                    <a:p>
                      <a:r>
                        <a:rPr lang="en-US"/>
                        <a:t>Predicts a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Predicts a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283892"/>
                  </a:ext>
                </a:extLst>
              </a:tr>
              <a:tr h="554888">
                <a:tc>
                  <a:txBody>
                    <a:bodyPr/>
                    <a:lstStyle/>
                    <a:p>
                      <a:r>
                        <a:rPr lang="en-US"/>
                        <a:t>Exam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Positive or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540495"/>
                  </a:ext>
                </a:extLst>
              </a:tr>
              <a:tr h="554888">
                <a:tc>
                  <a:txBody>
                    <a:bodyPr/>
                    <a:lstStyle/>
                    <a:p>
                      <a:r>
                        <a:rPr lang="en-US"/>
                        <a:t>House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Spam or Not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519429"/>
                  </a:ext>
                </a:extLst>
              </a:tr>
              <a:tr h="554888">
                <a:tc>
                  <a:txBody>
                    <a:bodyPr/>
                    <a:lstStyle/>
                    <a:p>
                      <a:r>
                        <a:rPr lang="en-US"/>
                        <a:t>Stock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Fraud or Not Fraud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59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61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442E-FDCA-CDDC-5639-F8E7BF07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/>
              <a:t>Machine Learning Workflow: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C3C0BC-3700-54A7-A960-668F592A3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492159"/>
              </p:ext>
            </p:extLst>
          </p:nvPr>
        </p:nvGraphicFramePr>
        <p:xfrm>
          <a:off x="-617220" y="880745"/>
          <a:ext cx="13426440" cy="5555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631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 Linear Regression + Logistic Regression</vt:lpstr>
      <vt:lpstr>Regression &amp; Linear Regression</vt:lpstr>
      <vt:lpstr>Classification &amp; Logistic Regression</vt:lpstr>
      <vt:lpstr>Regression vs Classification</vt:lpstr>
      <vt:lpstr>Machine Learning Workflow: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43</cp:revision>
  <dcterms:created xsi:type="dcterms:W3CDTF">2026-09-03T21:13:02Z</dcterms:created>
  <dcterms:modified xsi:type="dcterms:W3CDTF">2026-09-09T17:08:51Z</dcterms:modified>
</cp:coreProperties>
</file>