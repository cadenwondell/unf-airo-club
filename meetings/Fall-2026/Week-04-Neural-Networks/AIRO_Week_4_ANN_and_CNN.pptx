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67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AEAA-E7AF-7671-BDCF-CAFA524EC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84037-9E9F-2D32-A381-7EEBCBEF8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68D36-4953-DED4-6BA5-F2076CEA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D9E91-EBC6-1598-0A36-F29AD730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97C72-5328-FB61-8336-F8C2772BC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62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3369-27A9-171F-2E82-087DB2B8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B1DEC-290D-43DA-162C-28FACFFDA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A5631-EE35-15F1-F1AD-5495C2E0A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08D85-307F-B477-DAA0-E1FBDEC1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9212A-5292-0C65-CD61-822190F7B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1FC6-0A27-A90F-0F22-D0BAFE448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E461D-2DAC-C482-3CBE-7EE6A2757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AB30D-D2F5-0239-8FA3-422E4B5E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8E0BA-661A-E924-C656-B85A4B9C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6C25A-7819-3E89-F556-E8E61A1A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F3CA-3054-5058-CFA9-78BD3785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4257-A2B6-A48C-CE04-06EE11C8C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79EE4-186D-9C96-5B21-7B48F1422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7BEBA-456F-B67B-F300-A4F3E0A7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DCC4A-132F-6CF7-B4C1-D4328B5C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64FBE-D9C1-4F15-01B1-563FAE03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08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031F-08A1-40B3-5C00-D1ABD084E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EEAEC-3F6B-DA60-5F66-CCA2EC3C9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FA8CD-8849-7E2D-53CE-DACF2DAE7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E14D6-34EC-A19E-D030-15E359685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87D2D9-9649-D374-44DB-CA3772AA8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FE1DF-1156-C711-0C36-29A9E0BD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75AC9-EB2C-3D26-5E53-184557ED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4BF3A3-8F78-4D4C-51B5-22A10330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3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EA22-D2F9-F6D4-ABC9-352F896B7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0364B3-692D-F67D-8C55-A8E5FF34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CC5F0-9EE0-2C30-FD20-1E809DDAF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B3330-4353-B01A-17AC-83A81229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01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369C7E-E03C-5A19-F47F-4857DBAC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08D3C-26C6-EC7B-9723-8644413A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023AC-A09C-8B70-E27B-EDBFEDED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56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5609-9757-6F33-D3CE-4F299F51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BE0C-60E9-996F-8E6B-361940341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6ACFC-D157-62E2-0249-6B7AC99B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7271A-C103-ED6F-76E6-0F5A9E9CF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491AD-01B7-92B8-C897-8886BD44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FCFBF-EE37-41D9-EB43-BD16E2DE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7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BA7A-BC92-43A3-1EFC-887677444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A8D86-BABD-E7EE-2D0C-9403C002E39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0352E-2007-7419-DD30-4392B448D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8DC9E-E368-783A-D651-79C08618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6D0EE-B2B6-B211-6EE7-E5B4E9471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CF9D1-F0EF-4E38-0289-37BE812D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3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C274-33D3-ACFA-3E52-BB316114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4E7CB-E641-6C56-6D9A-5394CE580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20C22-5F25-041D-330E-ABE11014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532B-7E98-0179-8214-86EA0346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20AA7-E402-D44E-6391-CF5672F2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06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01BDB3-EA84-FEE4-2C97-B9C52F72D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2CFA8-A9EF-B122-9DBB-2DD28E70D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35E47-A29F-7218-553F-BECB54B4C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019E-E276-4B00-6930-EDA7CA4A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3BAC-333B-6F6C-0BB1-1F81C849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27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DC0BD-30FE-B969-FB03-A65A32FC4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0F3F6-E7A7-94BA-C2DE-1D6AA6B35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A6F4A-197F-2BCB-4681-4ECACA474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83D21-107E-F74B-AA6E-DF3579F94F7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D7ECF-3BB1-ACDB-C5E4-57FB7CC39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B3C91-407B-CECA-A571-7314E8C2D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28034-B023-6641-9FD4-1297491B2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3982-57F3-0627-3AA1-49F203352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D46A8-461E-F9CF-F460-809F80F91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D0C1B5-71A3-1B79-9499-95172B758F08}"/>
              </a:ext>
            </a:extLst>
          </p:cNvPr>
          <p:cNvGrpSpPr/>
          <p:nvPr/>
        </p:nvGrpSpPr>
        <p:grpSpPr>
          <a:xfrm>
            <a:off x="1" y="0"/>
            <a:ext cx="12188760" cy="6859822"/>
            <a:chOff x="3239" y="0"/>
            <a:chExt cx="12185522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DF58E5C-5F37-4E01-F1FD-8FE0DF705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422E15D-919F-6ACB-0D74-948A6129C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8982" y="3610598"/>
              <a:ext cx="1780374" cy="178037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D2DCCB-5063-794E-4954-D0CB20C81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0928" y="3625553"/>
              <a:ext cx="1764706" cy="1764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9973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791C-2B0A-98C8-E205-9C62496E29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  <a:br>
              <a:rPr lang="en-US" dirty="0"/>
            </a:br>
            <a:r>
              <a:rPr lang="en-US" dirty="0"/>
              <a:t>ANN and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77C59-742C-7DC6-BFDB-028E8CC522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AIRO Week 4</a:t>
            </a:r>
          </a:p>
          <a:p>
            <a:r>
              <a:rPr lang="en-US" dirty="0"/>
              <a:t>Created by Caden Wondell</a:t>
            </a:r>
          </a:p>
        </p:txBody>
      </p:sp>
    </p:spTree>
    <p:extLst>
      <p:ext uri="{BB962C8B-B14F-4D97-AF65-F5344CB8AC3E}">
        <p14:creationId xmlns:p14="http://schemas.microsoft.com/office/powerpoint/2010/main" val="403239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76B1F5-C24C-2765-E25E-CCCD5A68E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544" y="2740421"/>
            <a:ext cx="6031773" cy="33212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5EE176-7C27-19E2-F791-5067CB50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Artificial Neural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38B81-9AEE-FD4A-4E87-2D88A602C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artificial neural network is made of interconnected artificial neurons, also called Linear Threshold Unit (LTU), by McCulloch and Pitts, 1943.</a:t>
            </a:r>
          </a:p>
          <a:p>
            <a:pPr marL="0" indent="0">
              <a:buNone/>
            </a:pPr>
            <a:r>
              <a:rPr lang="en-US" dirty="0"/>
              <a:t>Each neuron: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Receives inputs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Assigns weights to those inputs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Calculates a weighted sum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Applies an activation function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Produces an output</a:t>
            </a:r>
          </a:p>
        </p:txBody>
      </p:sp>
    </p:spTree>
    <p:extLst>
      <p:ext uri="{BB962C8B-B14F-4D97-AF65-F5344CB8AC3E}">
        <p14:creationId xmlns:p14="http://schemas.microsoft.com/office/powerpoint/2010/main" val="45929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6CB1-B3B6-8359-8614-ADA3DB52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Math Inside One Neuron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498A79-1312-D561-0C0B-ED3CF5188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 err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nor/>
                      </m:rPr>
                      <a:rPr lang="en-US" i="0" dirty="0" err="1" smtClean="0">
                        <a:latin typeface="Cambria Math" panose="02040503050406030204" pitchFamily="18" charset="0"/>
                      </a:rPr>
                      <m:t>input feature </m:t>
                    </m:r>
                  </m:oMath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i="0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 dirty="0" err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0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 err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0" dirty="0" err="1" smtClean="0">
                        <a:latin typeface="Cambria Math" panose="02040503050406030204" pitchFamily="18" charset="0"/>
                      </a:rPr>
                      <m:t>𝑙𝑒𝑎𝑟𝑛𝑒𝑑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err="1" smtClean="0">
                        <a:latin typeface="Cambria Math" panose="02040503050406030204" pitchFamily="18" charset="0"/>
                      </a:rPr>
                      <m:t>𝑤𝑒𝑖𝑔ℎ𝑡</m:t>
                    </m:r>
                  </m:oMath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𝑏𝑖𝑎𝑠</m:t>
                    </m:r>
                  </m:oMath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𝑎𝑐𝑡𝑖𝑣𝑎𝑡𝑖𝑜𝑛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𝑓𝑢𝑛𝑐𝑡𝑖𝑜𝑛</m:t>
                    </m:r>
                  </m:oMath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𝑛𝑒𝑢𝑟𝑜𝑛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𝑜𝑢𝑡𝑝𝑢𝑡</m:t>
                    </m:r>
                  </m:oMath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Age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Heart Rate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Lactate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498A79-1312-D561-0C0B-ED3CF5188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4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19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1B0B-80E0-1605-F246-D699E263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92DAC3-1649-67BE-CF8D-A2E9546CDC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 err="1"/>
                  <a:t>ReLU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i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/>
                  <a:t>Sigmoid: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 err="1"/>
                  <a:t>Softmax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Softmax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92DAC3-1649-67BE-CF8D-A2E9546CDC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8A42D0C-2958-A644-9DBD-4F8ED5F3D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82" y="876618"/>
            <a:ext cx="2892863" cy="2909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0D18F6-66CA-BA0B-5409-447E92A36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747" y="763489"/>
            <a:ext cx="3005992" cy="30221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1988D-134C-493B-B325-490813D92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216" y="3754648"/>
            <a:ext cx="2892863" cy="289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1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5F9F-5903-E205-9D5F-E78E88B8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Multiple Layers?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5C16-4DAE-1069-4CFF-B6D2EC7CA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single perception can learn relatively simple decision boundaries</a:t>
            </a:r>
          </a:p>
          <a:p>
            <a:pPr marL="0" indent="0">
              <a:buNone/>
            </a:pPr>
            <a:r>
              <a:rPr lang="en-US" dirty="0"/>
              <a:t>However, single perceptions cannot solve trivial non-linear separable problems.</a:t>
            </a:r>
          </a:p>
          <a:p>
            <a:pPr marL="0" indent="0">
              <a:buNone/>
            </a:pPr>
            <a:r>
              <a:rPr lang="en-US" dirty="0"/>
              <a:t>Example: XOR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Solution: Stack perceptions together</a:t>
            </a:r>
          </a:p>
          <a:p>
            <a:pPr marL="0" indent="0">
              <a:buNone/>
            </a:pPr>
            <a:r>
              <a:rPr lang="en-US" dirty="0"/>
              <a:t>Multiple perceptron's can solve any</a:t>
            </a:r>
          </a:p>
          <a:p>
            <a:pPr marL="0" indent="0">
              <a:buNone/>
            </a:pPr>
            <a:r>
              <a:rPr lang="en-US" dirty="0"/>
              <a:t>non-linear problem</a:t>
            </a:r>
          </a:p>
          <a:p>
            <a:pPr marL="0" indent="0">
              <a:buNone/>
            </a:pPr>
            <a:r>
              <a:rPr lang="en-US" dirty="0"/>
              <a:t>Minsky and Papert, 1969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398D3-FEFC-9873-1299-D82AB2C18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636" y="3118247"/>
            <a:ext cx="5030849" cy="302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47AC-2CFB-7F4E-0AF7-A11713C4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Neural Network Learn?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13E26A-FDEF-644B-6339-4237E19B7B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9497"/>
                <a:ext cx="10515600" cy="4757466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Forward Pass – Make a prediction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acc>
                        <m:accPr>
                          <m:chr m:val="ˆ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Calculate Loss – How wrong was the prediction?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ˆ"/>
                                          <m:ctrlP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Backpropagation – Determine responsibility for the Error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ˆ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ˆ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Gradient Descent – Update the Weights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old</m:t>
                          </m:r>
                        </m:sub>
                      </m:sSub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13E26A-FDEF-644B-6339-4237E19B7B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9497"/>
                <a:ext cx="10515600" cy="4757466"/>
              </a:xfrm>
              <a:blipFill>
                <a:blip r:embed="rId2"/>
                <a:stretch>
                  <a:fillRect l="-965" t="-21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318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48FB-598D-78B8-3432-DF3D9A6D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 and Gradient Descent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A3F83A-1D56-89EF-E49D-C62E41EF8B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5623"/>
                <a:ext cx="10515600" cy="47313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Backpropagation: calculates the gradients, how much each weight contributed to the error.</a:t>
                </a:r>
              </a:p>
              <a:p>
                <a:pPr marL="0" indent="0">
                  <a:buNone/>
                </a:pPr>
                <a:r>
                  <a:rPr lang="en-US" dirty="0"/>
                  <a:t>Gradient Descent: uses the gradients to update the weights and reduce error.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Output Layer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Hidden Layers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Earlier Weights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Backpropagation: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ˆ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Gradient Descent: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A3F83A-1D56-89EF-E49D-C62E41EF8B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5623"/>
                <a:ext cx="10515600" cy="4731340"/>
              </a:xfrm>
              <a:blipFill>
                <a:blip r:embed="rId2"/>
                <a:stretch>
                  <a:fillRect l="-120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4540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C4A8-2E20-4F38-106E-FD13BB07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C4820-D8A8-5054-1FBF-8A265E50A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Epoch: One complete Pass through the training dataset</a:t>
            </a:r>
          </a:p>
          <a:p>
            <a:r>
              <a:rPr lang="en-US" dirty="0"/>
              <a:t>Batch: A subset of training examples processed together</a:t>
            </a:r>
          </a:p>
          <a:p>
            <a:r>
              <a:rPr lang="en-US" dirty="0"/>
              <a:t>Batch Size: The number of examples in a single batch</a:t>
            </a:r>
          </a:p>
          <a:p>
            <a:r>
              <a:rPr lang="en-US" dirty="0"/>
              <a:t>Learning Rate: How large each optimization step is</a:t>
            </a:r>
          </a:p>
          <a:p>
            <a:r>
              <a:rPr lang="en-US" dirty="0"/>
              <a:t>Loss Function: Measures prediction error</a:t>
            </a:r>
          </a:p>
          <a:p>
            <a:r>
              <a:rPr lang="en-US" dirty="0"/>
              <a:t>Optimizer: Algorithm used to update network parameters</a:t>
            </a:r>
          </a:p>
        </p:txBody>
      </p:sp>
    </p:spTree>
    <p:extLst>
      <p:ext uri="{BB962C8B-B14F-4D97-AF65-F5344CB8AC3E}">
        <p14:creationId xmlns:p14="http://schemas.microsoft.com/office/powerpoint/2010/main" val="256163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017B-AB73-0711-C9EE-F020C500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 vs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02F9D-3BF2-5E31-6893-995836ED6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CNN is a type of Artificial Neural Network</a:t>
            </a:r>
          </a:p>
          <a:p>
            <a:r>
              <a:rPr lang="en-US" dirty="0"/>
              <a:t>ANN = Traditional fully connected Multi Layer Perceptron</a:t>
            </a:r>
          </a:p>
          <a:p>
            <a:r>
              <a:rPr lang="en-US" dirty="0"/>
              <a:t>CNN = Convolutional Neural Network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ANN’s Learn relationships tied to specific pixel positions</a:t>
            </a:r>
          </a:p>
          <a:p>
            <a:pPr marL="0" indent="0">
              <a:buNone/>
            </a:pPr>
            <a:r>
              <a:rPr lang="en-US" dirty="0"/>
              <a:t>CNN’s learn a Kernel which can be used across the matrix</a:t>
            </a:r>
          </a:p>
        </p:txBody>
      </p:sp>
    </p:spTree>
    <p:extLst>
      <p:ext uri="{BB962C8B-B14F-4D97-AF65-F5344CB8AC3E}">
        <p14:creationId xmlns:p14="http://schemas.microsoft.com/office/powerpoint/2010/main" val="11939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E537DF-4E5F-2599-2570-F57C8D9BB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268" y="858701"/>
            <a:ext cx="6701732" cy="48909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1F0F96-3F1B-6DC8-0B69-E5E5E0CBC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8584"/>
          </a:xfrm>
        </p:spPr>
        <p:txBody>
          <a:bodyPr>
            <a:normAutofit fontScale="90000"/>
          </a:bodyPr>
          <a:lstStyle/>
          <a:p>
            <a:r>
              <a:rPr lang="en-US" dirty="0"/>
              <a:t>ANN vs CNN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01E1BD-FC3D-D323-1C3D-B6C7E0929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507" y="1043710"/>
            <a:ext cx="5242791" cy="44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1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EAA4-2829-971E-C744-58808068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6F9CA6-DF8F-4B08-C1B4-F7A3D691F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208655" cy="709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07B8-2679-F79E-42B9-731643BA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Whole CNN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7DE5B3-86EF-A94E-99CF-BDD3B9D4F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36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1877-2622-5D60-B87A-134E655C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Convolution: Learning Visual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1E983-F9A1-1216-556D-6A67B4925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small matrix called a Kernel/Filter slides across the Image.</a:t>
            </a:r>
          </a:p>
          <a:p>
            <a:pPr marL="0" indent="0">
              <a:buNone/>
            </a:pPr>
            <a:r>
              <a:rPr lang="en-US" dirty="0"/>
              <a:t>The Kernel is used to make a Feature Map.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9EDD3-EA5D-F55B-F053-B33C57BC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10" y="2702502"/>
            <a:ext cx="2784548" cy="3790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C7B5E3-16EA-9ED4-B4DE-CBF1DA56E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513" y="3734088"/>
            <a:ext cx="3162300" cy="172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6DFF5C-5EDD-F800-32D2-F24B299F5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468" y="3930938"/>
            <a:ext cx="21971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05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CFD7CA-EC1B-8477-2AFF-53AC2E34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277" y="1810591"/>
            <a:ext cx="7101445" cy="5326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D1EF3D-4AE1-20EA-3986-373BEB3EA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7BC7-DFD9-6FC9-EECC-B4C5140E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350" y="1524000"/>
            <a:ext cx="11382102" cy="4652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Max Pooling reduces the spatial size while keeping the strongest feature responses. It does not learn weights; it simply takes the max</a:t>
            </a:r>
          </a:p>
        </p:txBody>
      </p:sp>
    </p:spTree>
    <p:extLst>
      <p:ext uri="{BB962C8B-B14F-4D97-AF65-F5344CB8AC3E}">
        <p14:creationId xmlns:p14="http://schemas.microsoft.com/office/powerpoint/2010/main" val="44640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0B83-2F6F-3DF9-FD9B-4A178786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Filters = Multiple Feature Maps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B7595D-736E-120A-FCD2-EE9E15DAF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1117" y="1511770"/>
            <a:ext cx="6522963" cy="40878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93564-23D3-02A6-F59E-8F10BD2E5055}"/>
              </a:ext>
            </a:extLst>
          </p:cNvPr>
          <p:cNvSpPr txBox="1"/>
          <p:nvPr/>
        </p:nvSpPr>
        <p:spPr>
          <a:xfrm>
            <a:off x="313508" y="1508249"/>
            <a:ext cx="644434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Different filters detect different patterns</a:t>
            </a:r>
          </a:p>
          <a:p>
            <a:r>
              <a:rPr lang="en-US" sz="2400" dirty="0"/>
              <a:t>Each Filter creates one Feature Map</a:t>
            </a:r>
          </a:p>
          <a:p>
            <a:r>
              <a:rPr lang="en-US" sz="2400" dirty="0"/>
              <a:t>Feature maps are stacked for the next layer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Key Idea: Multiple Filters let the CNN learn multiple features at the same time. </a:t>
            </a:r>
          </a:p>
        </p:txBody>
      </p:sp>
    </p:spTree>
    <p:extLst>
      <p:ext uri="{BB962C8B-B14F-4D97-AF65-F5344CB8AC3E}">
        <p14:creationId xmlns:p14="http://schemas.microsoft.com/office/powerpoint/2010/main" val="2022020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68BA-6AF8-B15B-6E14-11F0CD31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Stride and 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23032-E6DF-8D16-218E-159328F5F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197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Stride = How far the filter moves each iteration</a:t>
            </a:r>
          </a:p>
          <a:p>
            <a:pPr marL="0" indent="0">
              <a:buNone/>
            </a:pPr>
            <a:r>
              <a:rPr lang="en-US" dirty="0"/>
              <a:t>Padding = Adding pixels around the border so features near the edges are not lost.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7CAC8-97C7-EDB9-17B5-5125AD9BD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954" y="681037"/>
            <a:ext cx="5861411" cy="4095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B5E332-CE9C-63D3-BA57-2CDCE5665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826" y="3589594"/>
            <a:ext cx="3375660" cy="272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50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8573-FE94-982B-FA42-7CB2BE82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84433-868E-E8BE-2B1A-193FD91A3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F401C-A406-F433-8584-09BF8C595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5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31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F0CA9-F9AA-6244-2EF3-EA32E4E3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69330"/>
            <a:ext cx="10515600" cy="1325563"/>
          </a:xfrm>
        </p:spPr>
        <p:txBody>
          <a:bodyPr/>
          <a:lstStyle/>
          <a:p>
            <a:r>
              <a:rPr lang="en-US" dirty="0"/>
              <a:t>ANN vs CNN Review: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18D04A-58C9-0203-CB47-F7AAF6631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537157"/>
              </p:ext>
            </p:extLst>
          </p:nvPr>
        </p:nvGraphicFramePr>
        <p:xfrm>
          <a:off x="838200" y="3245122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1814459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4852167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3938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76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Tabular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Age, WBC, HR,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ANN, </a:t>
                      </a:r>
                      <a:r>
                        <a:rPr lang="en-US" dirty="0" err="1"/>
                        <a:t>XGBoost</a:t>
                      </a:r>
                      <a:r>
                        <a:rPr lang="en-US" dirty="0"/>
                        <a:t>, Random Forest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09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MRI, X-ray,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0495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455FBA-231F-CCBB-B8EB-97CCE1CCE8D4}"/>
              </a:ext>
            </a:extLst>
          </p:cNvPr>
          <p:cNvSpPr txBox="1"/>
          <p:nvPr/>
        </p:nvSpPr>
        <p:spPr>
          <a:xfrm>
            <a:off x="949235" y="1940721"/>
            <a:ext cx="107790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ANN’s Learn relationships tied to specific pixel positions</a:t>
            </a:r>
          </a:p>
          <a:p>
            <a:r>
              <a:rPr lang="en-US" sz="2800" dirty="0"/>
              <a:t>CNN’s learn a kernel which can be used across the matrix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5732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601</Words>
  <Application>Microsoft Macintosh PowerPoint</Application>
  <PresentationFormat>Widescreen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Office Theme</vt:lpstr>
      <vt:lpstr>PowerPoint Presentation</vt:lpstr>
      <vt:lpstr>Neural Networks ANN and CNN</vt:lpstr>
      <vt:lpstr>What is an Artificial Neural Network?</vt:lpstr>
      <vt:lpstr>The Math Inside One Neuron</vt:lpstr>
      <vt:lpstr>Activation Functions</vt:lpstr>
      <vt:lpstr>Why Do We Need Multiple Layers?</vt:lpstr>
      <vt:lpstr>How Does a Neural Network Learn?</vt:lpstr>
      <vt:lpstr>Backpropagation and Gradient Descent</vt:lpstr>
      <vt:lpstr>Neural Network Training Vocabulary</vt:lpstr>
      <vt:lpstr>ANN vs CNN</vt:lpstr>
      <vt:lpstr>ANN vs CNN</vt:lpstr>
      <vt:lpstr>Why use CNN</vt:lpstr>
      <vt:lpstr>The Whole CNN</vt:lpstr>
      <vt:lpstr>Convolution: Learning Visual Features</vt:lpstr>
      <vt:lpstr>Max Pooling</vt:lpstr>
      <vt:lpstr>Multiple Filters = Multiple Feature Maps</vt:lpstr>
      <vt:lpstr>Stride and Padding</vt:lpstr>
      <vt:lpstr>Flatten</vt:lpstr>
      <vt:lpstr>ANN vs CNN Review: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Wondell, Caden</dc:creator>
  <cp:lastModifiedBy>Wondell, Caden</cp:lastModifiedBy>
  <cp:revision>2</cp:revision>
  <dcterms:created xsi:type="dcterms:W3CDTF">2026-10-01T15:00:18Z</dcterms:created>
  <dcterms:modified xsi:type="dcterms:W3CDTF">2026-10-01T17:39:39Z</dcterms:modified>
</cp:coreProperties>
</file>