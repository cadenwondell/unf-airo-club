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6EC"/>
    <a:srgbClr val="C5CDD2"/>
    <a:srgbClr val="B8D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67" dt="2026-09-17T21:39:21.424"/>
    <p1510:client id="{5C3F7D69-76E2-3942-B73D-DAE3769C0567}" v="31" dt="2026-09-17T21:40:42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9"/>
    <p:restoredTop sz="94673"/>
  </p:normalViewPr>
  <p:slideViewPr>
    <p:cSldViewPr snapToGrid="0">
      <p:cViewPr varScale="1">
        <p:scale>
          <a:sx n="137" d="100"/>
          <a:sy n="137" d="100"/>
        </p:scale>
        <p:origin x="20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ndell, Caden" userId="b885878a-f666-4043-993b-3a3ba6da7d6a" providerId="ADAL" clId="{0F0CC14B-EC09-54AC-AC28-D7D11B888848}"/>
    <pc:docChg chg="undo custSel addSld modSld">
      <pc:chgData name="Wondell, Caden" userId="b885878a-f666-4043-993b-3a3ba6da7d6a" providerId="ADAL" clId="{0F0CC14B-EC09-54AC-AC28-D7D11B888848}" dt="2026-09-17T21:40:42.778" v="1179" actId="20577"/>
      <pc:docMkLst>
        <pc:docMk/>
      </pc:docMkLst>
      <pc:sldChg chg="modSp mod">
        <pc:chgData name="Wondell, Caden" userId="b885878a-f666-4043-993b-3a3ba6da7d6a" providerId="ADAL" clId="{0F0CC14B-EC09-54AC-AC28-D7D11B888848}" dt="2026-09-17T01:00:47.501" v="456" actId="27636"/>
        <pc:sldMkLst>
          <pc:docMk/>
          <pc:sldMk cId="3946833416" sldId="268"/>
        </pc:sldMkLst>
        <pc:spChg chg="mod">
          <ac:chgData name="Wondell, Caden" userId="b885878a-f666-4043-993b-3a3ba6da7d6a" providerId="ADAL" clId="{0F0CC14B-EC09-54AC-AC28-D7D11B888848}" dt="2026-09-17T00:54:35.319" v="11" actId="20577"/>
          <ac:spMkLst>
            <pc:docMk/>
            <pc:sldMk cId="3946833416" sldId="268"/>
            <ac:spMk id="2" creationId="{76019CC6-7A8B-CE3D-E44A-AAACC6E27D53}"/>
          </ac:spMkLst>
        </pc:spChg>
        <pc:spChg chg="mod">
          <ac:chgData name="Wondell, Caden" userId="b885878a-f666-4043-993b-3a3ba6da7d6a" providerId="ADAL" clId="{0F0CC14B-EC09-54AC-AC28-D7D11B888848}" dt="2026-09-17T01:00:47.501" v="456" actId="27636"/>
          <ac:spMkLst>
            <pc:docMk/>
            <pc:sldMk cId="3946833416" sldId="268"/>
            <ac:spMk id="3" creationId="{DA62A06B-E469-D498-8676-B4A23FC4EBB3}"/>
          </ac:spMkLst>
        </pc:spChg>
      </pc:sldChg>
      <pc:sldChg chg="addSp modSp new mod">
        <pc:chgData name="Wondell, Caden" userId="b885878a-f666-4043-993b-3a3ba6da7d6a" providerId="ADAL" clId="{0F0CC14B-EC09-54AC-AC28-D7D11B888848}" dt="2026-09-17T01:08:09.267" v="655" actId="1076"/>
        <pc:sldMkLst>
          <pc:docMk/>
          <pc:sldMk cId="668875136" sldId="269"/>
        </pc:sldMkLst>
        <pc:spChg chg="mod">
          <ac:chgData name="Wondell, Caden" userId="b885878a-f666-4043-993b-3a3ba6da7d6a" providerId="ADAL" clId="{0F0CC14B-EC09-54AC-AC28-D7D11B888848}" dt="2026-09-17T01:00:56.167" v="463" actId="20577"/>
          <ac:spMkLst>
            <pc:docMk/>
            <pc:sldMk cId="668875136" sldId="269"/>
            <ac:spMk id="2" creationId="{9DB2DEEF-A027-C2D7-3DAC-02CF12329492}"/>
          </ac:spMkLst>
        </pc:spChg>
        <pc:spChg chg="mod">
          <ac:chgData name="Wondell, Caden" userId="b885878a-f666-4043-993b-3a3ba6da7d6a" providerId="ADAL" clId="{0F0CC14B-EC09-54AC-AC28-D7D11B888848}" dt="2026-09-17T01:07:58.604" v="652" actId="27636"/>
          <ac:spMkLst>
            <pc:docMk/>
            <pc:sldMk cId="668875136" sldId="269"/>
            <ac:spMk id="3" creationId="{1F945571-C0A6-7494-DFA2-A43EA2FDC9B6}"/>
          </ac:spMkLst>
        </pc:spChg>
        <pc:picChg chg="add mod">
          <ac:chgData name="Wondell, Caden" userId="b885878a-f666-4043-993b-3a3ba6da7d6a" providerId="ADAL" clId="{0F0CC14B-EC09-54AC-AC28-D7D11B888848}" dt="2026-09-17T01:08:09.267" v="655" actId="1076"/>
          <ac:picMkLst>
            <pc:docMk/>
            <pc:sldMk cId="668875136" sldId="269"/>
            <ac:picMk id="5" creationId="{8AC3D444-F49C-E039-B738-41284EA2D151}"/>
          </ac:picMkLst>
        </pc:picChg>
      </pc:sldChg>
      <pc:sldChg chg="addSp delSp modSp new mod">
        <pc:chgData name="Wondell, Caden" userId="b885878a-f666-4043-993b-3a3ba6da7d6a" providerId="ADAL" clId="{0F0CC14B-EC09-54AC-AC28-D7D11B888848}" dt="2026-09-17T01:17:09.604" v="1119" actId="20577"/>
        <pc:sldMkLst>
          <pc:docMk/>
          <pc:sldMk cId="3751020573" sldId="270"/>
        </pc:sldMkLst>
        <pc:spChg chg="mod">
          <ac:chgData name="Wondell, Caden" userId="b885878a-f666-4043-993b-3a3ba6da7d6a" providerId="ADAL" clId="{0F0CC14B-EC09-54AC-AC28-D7D11B888848}" dt="2026-09-17T01:17:09.604" v="1119" actId="20577"/>
          <ac:spMkLst>
            <pc:docMk/>
            <pc:sldMk cId="3751020573" sldId="270"/>
            <ac:spMk id="2" creationId="{FC88BE0C-8AB1-27ED-0C22-0BF2CFE643CC}"/>
          </ac:spMkLst>
        </pc:spChg>
        <pc:spChg chg="del">
          <ac:chgData name="Wondell, Caden" userId="b885878a-f666-4043-993b-3a3ba6da7d6a" providerId="ADAL" clId="{0F0CC14B-EC09-54AC-AC28-D7D11B888848}" dt="2026-09-17T01:09:43.543" v="671" actId="3680"/>
          <ac:spMkLst>
            <pc:docMk/>
            <pc:sldMk cId="3751020573" sldId="270"/>
            <ac:spMk id="3" creationId="{89866B9F-88B4-7F5B-8F39-29C258B3E027}"/>
          </ac:spMkLst>
        </pc:spChg>
        <pc:graphicFrameChg chg="add mod ord modGraphic">
          <ac:chgData name="Wondell, Caden" userId="b885878a-f666-4043-993b-3a3ba6da7d6a" providerId="ADAL" clId="{0F0CC14B-EC09-54AC-AC28-D7D11B888848}" dt="2026-09-17T01:16:45.233" v="1109" actId="207"/>
          <ac:graphicFrameMkLst>
            <pc:docMk/>
            <pc:sldMk cId="3751020573" sldId="270"/>
            <ac:graphicFrameMk id="4" creationId="{99659588-CDF4-ABE7-BEC1-93945DC6064D}"/>
          </ac:graphicFrameMkLst>
        </pc:graphicFrameChg>
      </pc:sldChg>
      <pc:sldChg chg="modSp mod">
        <pc:chgData name="Wondell, Caden" userId="b885878a-f666-4043-993b-3a3ba6da7d6a" providerId="ADAL" clId="{0F0CC14B-EC09-54AC-AC28-D7D11B888848}" dt="2026-09-17T21:40:42.778" v="1179" actId="20577"/>
        <pc:sldMkLst>
          <pc:docMk/>
          <pc:sldMk cId="1876313324" sldId="273"/>
        </pc:sldMkLst>
        <pc:spChg chg="mod">
          <ac:chgData name="Wondell, Caden" userId="b885878a-f666-4043-993b-3a3ba6da7d6a" providerId="ADAL" clId="{0F0CC14B-EC09-54AC-AC28-D7D11B888848}" dt="2026-09-17T21:40:42.778" v="1179" actId="20577"/>
          <ac:spMkLst>
            <pc:docMk/>
            <pc:sldMk cId="1876313324" sldId="273"/>
            <ac:spMk id="3" creationId="{7EEB82B9-55F7-B32A-B4AF-8CE080F59EF1}"/>
          </ac:spMkLst>
        </pc:spChg>
      </pc:sldChg>
    </pc:docChg>
  </pc:docChgLst>
  <pc:docChgLst>
    <pc:chgData name="Wondell, Caden" userId="S::n01535027@unf.edu::b885878a-f666-4043-993b-3a3ba6da7d6a" providerId="AD" clId="Web-{00000000-0000-0000-0000-000000000000}"/>
    <pc:docChg chg="addSld modSld">
      <pc:chgData name="Wondell, Caden" userId="S::n01535027@unf.edu::b885878a-f666-4043-993b-3a3ba6da7d6a" providerId="AD" clId="Web-{00000000-0000-0000-0000-000000000000}" dt="2026-09-17T21:39:21.346" v="461" actId="20577"/>
      <pc:docMkLst>
        <pc:docMk/>
      </pc:docMkLst>
      <pc:sldChg chg="modSp new">
        <pc:chgData name="Wondell, Caden" userId="S::n01535027@unf.edu::b885878a-f666-4043-993b-3a3ba6da7d6a" providerId="AD" clId="Web-{00000000-0000-0000-0000-000000000000}" dt="2026-09-17T21:35:10.540" v="189" actId="20577"/>
        <pc:sldMkLst>
          <pc:docMk/>
          <pc:sldMk cId="221260158" sldId="271"/>
        </pc:sldMkLst>
        <pc:spChg chg="mod">
          <ac:chgData name="Wondell, Caden" userId="S::n01535027@unf.edu::b885878a-f666-4043-993b-3a3ba6da7d6a" providerId="AD" clId="Web-{00000000-0000-0000-0000-000000000000}" dt="2026-09-17T21:31:26.485" v="6" actId="20577"/>
          <ac:spMkLst>
            <pc:docMk/>
            <pc:sldMk cId="221260158" sldId="271"/>
            <ac:spMk id="2" creationId="{8E1D7019-F483-2C5F-F9C4-5137B472DAF1}"/>
          </ac:spMkLst>
        </pc:spChg>
        <pc:spChg chg="mod">
          <ac:chgData name="Wondell, Caden" userId="S::n01535027@unf.edu::b885878a-f666-4043-993b-3a3ba6da7d6a" providerId="AD" clId="Web-{00000000-0000-0000-0000-000000000000}" dt="2026-09-17T21:35:10.540" v="189" actId="20577"/>
          <ac:spMkLst>
            <pc:docMk/>
            <pc:sldMk cId="221260158" sldId="271"/>
            <ac:spMk id="3" creationId="{644126D7-B2E2-ED73-C11A-E0E921A95F05}"/>
          </ac:spMkLst>
        </pc:spChg>
      </pc:sldChg>
      <pc:sldChg chg="modSp new">
        <pc:chgData name="Wondell, Caden" userId="S::n01535027@unf.edu::b885878a-f666-4043-993b-3a3ba6da7d6a" providerId="AD" clId="Web-{00000000-0000-0000-0000-000000000000}" dt="2026-09-17T21:37:10.341" v="319" actId="20577"/>
        <pc:sldMkLst>
          <pc:docMk/>
          <pc:sldMk cId="2761227920" sldId="272"/>
        </pc:sldMkLst>
        <pc:spChg chg="mod">
          <ac:chgData name="Wondell, Caden" userId="S::n01535027@unf.edu::b885878a-f666-4043-993b-3a3ba6da7d6a" providerId="AD" clId="Web-{00000000-0000-0000-0000-000000000000}" dt="2026-09-17T21:35:12.368" v="191" actId="20577"/>
          <ac:spMkLst>
            <pc:docMk/>
            <pc:sldMk cId="2761227920" sldId="272"/>
            <ac:spMk id="2" creationId="{4F3E4787-BE62-7AD1-E640-1B61D89E55CE}"/>
          </ac:spMkLst>
        </pc:spChg>
        <pc:spChg chg="mod">
          <ac:chgData name="Wondell, Caden" userId="S::n01535027@unf.edu::b885878a-f666-4043-993b-3a3ba6da7d6a" providerId="AD" clId="Web-{00000000-0000-0000-0000-000000000000}" dt="2026-09-17T21:37:10.341" v="319" actId="20577"/>
          <ac:spMkLst>
            <pc:docMk/>
            <pc:sldMk cId="2761227920" sldId="272"/>
            <ac:spMk id="3" creationId="{665CDAA3-67CF-5D70-469C-C837FE0ED7A0}"/>
          </ac:spMkLst>
        </pc:spChg>
      </pc:sldChg>
      <pc:sldChg chg="modSp new">
        <pc:chgData name="Wondell, Caden" userId="S::n01535027@unf.edu::b885878a-f666-4043-993b-3a3ba6da7d6a" providerId="AD" clId="Web-{00000000-0000-0000-0000-000000000000}" dt="2026-09-17T21:39:21.346" v="461" actId="20577"/>
        <pc:sldMkLst>
          <pc:docMk/>
          <pc:sldMk cId="1876313324" sldId="273"/>
        </pc:sldMkLst>
        <pc:spChg chg="mod">
          <ac:chgData name="Wondell, Caden" userId="S::n01535027@unf.edu::b885878a-f666-4043-993b-3a3ba6da7d6a" providerId="AD" clId="Web-{00000000-0000-0000-0000-000000000000}" dt="2026-09-17T21:37:14.466" v="323" actId="20577"/>
          <ac:spMkLst>
            <pc:docMk/>
            <pc:sldMk cId="1876313324" sldId="273"/>
            <ac:spMk id="2" creationId="{F090E7D5-B6F2-E4EB-9FC9-D8339D4B33D6}"/>
          </ac:spMkLst>
        </pc:spChg>
        <pc:spChg chg="mod">
          <ac:chgData name="Wondell, Caden" userId="S::n01535027@unf.edu::b885878a-f666-4043-993b-3a3ba6da7d6a" providerId="AD" clId="Web-{00000000-0000-0000-0000-000000000000}" dt="2026-09-17T21:39:21.346" v="461" actId="20577"/>
          <ac:spMkLst>
            <pc:docMk/>
            <pc:sldMk cId="1876313324" sldId="273"/>
            <ac:spMk id="3" creationId="{7EEB82B9-55F7-B32A-B4AF-8CE080F59EF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840B-B0C3-4210-8600-A7F3E9BC7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1068E-8269-9095-534B-367FBF2AF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6F1D4-7738-1462-F7D2-78E3FE940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6D9D7-9C61-863E-421C-53A48D22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EA58C-8AB7-D6BC-0D3C-D6A6A39A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5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CA26-14D0-59EC-7165-591AB1FD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C1A5-EB95-C16D-621F-E85D36345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B9ABD-D49A-EA12-FBBA-526D21805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EE1F-3BBE-7024-9D62-1C270B80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5B06B-60A5-52EA-E046-12FA8DAE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15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DF96E-B85D-8F0B-50C5-109E6692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3BFE2-B787-AF53-A2EE-578BE3BE6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E3FDF-ECF2-7562-86B8-9E09CE4B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C8EE7-1D09-F90D-16A0-B9F27B86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FA5EF-A285-AFFF-2FEE-030074C6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2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839C-E075-078B-C0A4-E82DF395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D0C0-8964-4FCF-2EA1-BB3B8E93C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5AE72-FFFE-7E7F-80B9-A79ECFAB1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9713F-7C3C-4097-40BC-DF1AD61A3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68234-1AEF-67FE-7E64-894E44190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B25CC-51F6-ED7E-F064-51ACF815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7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B7EF-0EC4-950C-32D6-ED6E37A7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CA30F-3C38-0C2D-6A49-0D62FEFFD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835D0-6644-D625-9BBE-76E75FCCF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6A05-9E24-50A0-9A5B-1F9ABE51E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2CCCA0-437A-DC25-DAF8-E6BFDBF04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BB8C6E-5358-9B2E-43C5-071AD966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76C74-E7D4-B749-36D7-99ED8A34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81D42-F3FA-DDEF-E087-4AE82E35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FD730-ED0B-1532-2E15-6F83FA0A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896B7-89DE-6F46-A477-DABF8A7B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936D1-7A1B-D46C-CC98-E6676820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42D5A-A32F-902F-418D-A59E0A23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1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C35DE-7202-7849-1CB2-69A45B8A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EBB7F-F766-6B6C-FBE1-A49E5A1E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BA71A-3766-55BE-CCF9-A984E6BE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0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D829-4265-18CF-E8C0-32E55CDB1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50188-8DE6-E5CF-1589-00D18E168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C89C5-E39D-14F1-8453-9A5202E8B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721972-3125-D2DE-80C2-7C4A8FFD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7DDC9-5935-5D71-B772-7A1A2AB9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14221-0E86-A875-3903-1E07CAB8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66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FF5C-6672-A223-54E6-D5AF1E68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1C3F34-31EF-BA82-C509-EA8E30C4B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D44E5-04E6-4F3A-8B5A-27F878E58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0A5EF-0CFC-A29B-ACBB-8DB9E833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45518-6B34-8D53-B586-C367EC4E2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4BFDA-773D-6154-EF54-ACBFC28F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17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25F7-1CCC-0623-B79D-B84C8355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23406-7799-84A5-55BD-AFC420AD9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D5416-58EC-B9FA-06EE-0EBCC77A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7AF7A-17C0-C6B1-702D-76FF4B6EA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236C8-BA1F-08FD-2708-D4C145C5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5D045-7052-FF09-64ED-FBC2E1A6A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0733C-F9EB-CF8C-01B6-6A2988101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27CD1-35C9-FB8B-111A-7AB92CF7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5141D-5A71-3399-42FC-07780387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88DD9-FF1D-89F8-2D1D-2D0E9B89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3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5F473-6EF0-4CD4-3E66-D4DAEA4DD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F9F4C-23A9-AF3C-AECC-D7378213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5A28-19BE-B6BC-F575-9DEB1B2F5A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9EE6C-5915-584A-8403-F67C007353E7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B8CC2-646D-9574-765B-CDD974568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7830-5302-730A-4F5A-1D6E51864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8D5AA-6F75-3E46-B818-F4094B27E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13DC0-0436-2975-4D6E-53303280D7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K-Nearest Neighbors (KNN)</a:t>
            </a:r>
            <a:br>
              <a:rPr lang="en-US" dirty="0"/>
            </a:br>
            <a:r>
              <a:rPr lang="en-US" dirty="0"/>
              <a:t>&amp; K-means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8BF5C-BD1B-27B4-3A9B-4DE7FDC84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AIRO – Week 2</a:t>
            </a:r>
          </a:p>
          <a:p>
            <a:r>
              <a:rPr lang="en-US" dirty="0"/>
              <a:t>Created by Caden Wondell</a:t>
            </a:r>
          </a:p>
        </p:txBody>
      </p:sp>
    </p:spTree>
    <p:extLst>
      <p:ext uri="{BB962C8B-B14F-4D97-AF65-F5344CB8AC3E}">
        <p14:creationId xmlns:p14="http://schemas.microsoft.com/office/powerpoint/2010/main" val="2326434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B447-AD5F-8D73-C6E7-24757D10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C729D-4D65-61EF-6341-DE653AA6426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Supervised Learning</a:t>
            </a:r>
          </a:p>
          <a:p>
            <a:pPr marL="0" indent="0">
              <a:buNone/>
            </a:pPr>
            <a:r>
              <a:rPr lang="en-US" dirty="0"/>
              <a:t>Training data includes the correct answer or label</a:t>
            </a:r>
          </a:p>
          <a:p>
            <a:pPr marL="0" indent="0">
              <a:buNone/>
            </a:pPr>
            <a:r>
              <a:rPr lang="en-US" dirty="0"/>
              <a:t>The model learns from examples with known outcomes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Linear Regression</a:t>
            </a:r>
          </a:p>
          <a:p>
            <a:pPr marL="0" indent="0">
              <a:buNone/>
            </a:pPr>
            <a:r>
              <a:rPr lang="en-US" dirty="0"/>
              <a:t>Logistic Regression</a:t>
            </a:r>
          </a:p>
          <a:p>
            <a:pPr marL="0" indent="0">
              <a:buNone/>
            </a:pPr>
            <a:r>
              <a:rPr lang="en-US" dirty="0"/>
              <a:t>K-Nearest Neighbors (KNN)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9C976-AFEB-80C4-AA86-1B59E7CCB2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Unsupervised Learning</a:t>
            </a:r>
          </a:p>
          <a:p>
            <a:pPr marL="0" indent="0">
              <a:buNone/>
            </a:pPr>
            <a:r>
              <a:rPr lang="en-US" dirty="0"/>
              <a:t>Training data does not include labels</a:t>
            </a:r>
          </a:p>
          <a:p>
            <a:pPr marL="0" indent="0">
              <a:buNone/>
            </a:pPr>
            <a:r>
              <a:rPr lang="en-US" dirty="0"/>
              <a:t>The model looks for patterns or groups on its own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marL="0" indent="0">
              <a:buNone/>
            </a:pPr>
            <a:r>
              <a:rPr lang="en-US" dirty="0"/>
              <a:t>K-Means</a:t>
            </a:r>
          </a:p>
          <a:p>
            <a:pPr marL="0" indent="0">
              <a:buNone/>
            </a:pPr>
            <a:r>
              <a:rPr lang="en-US" dirty="0"/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230559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ECB1-6570-DF7A-C8B5-A7391D0B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 (KNN): Core Idea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827269-87EB-0829-DBCA-C7A719EA6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163" y="230906"/>
            <a:ext cx="11425382" cy="642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79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D3438-2E2F-748C-CA95-2ECCE08D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KNN: How do we Measure “Nearest”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90748E-440C-3B1D-E58A-602C27FE05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KNN compares a new point to known points by calculating the distance between them. </a:t>
                </a:r>
              </a:p>
              <a:p>
                <a:pPr marL="0" indent="0">
                  <a:buNone/>
                </a:pPr>
                <a:r>
                  <a:rPr lang="en-US" dirty="0"/>
                  <a:t>To find distance use idea of Euclidean distance across all features:</a:t>
                </a:r>
              </a:p>
              <a:p>
                <a:pPr marL="0" indent="0">
                  <a:buNone/>
                </a:pPr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+⋯+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100" dirty="0"/>
              </a:p>
              <a:p>
                <a:pPr marL="0" indent="0">
                  <a:buNone/>
                </a:pPr>
                <a:r>
                  <a:rPr lang="en-US" dirty="0">
                    <a:latin typeface="Aptos" panose="020B0004020202020204" pitchFamily="34" charset="0"/>
                  </a:rPr>
                  <a:t>Example using 4 features: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90748E-440C-3B1D-E58A-602C27FE05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r="-121" b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79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82D6-89DF-A246-A2FA-5AC6273F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342"/>
          </a:xfrm>
        </p:spPr>
        <p:txBody>
          <a:bodyPr>
            <a:normAutofit fontScale="90000"/>
          </a:bodyPr>
          <a:lstStyle/>
          <a:p>
            <a:r>
              <a:rPr lang="en-US" dirty="0"/>
              <a:t>K-Nearest Neighbor Example:</a:t>
            </a:r>
            <a:br>
              <a:rPr lang="en-US" dirty="0"/>
            </a:br>
            <a:r>
              <a:rPr lang="en-US" sz="2800" dirty="0"/>
              <a:t>Fraud Detection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EF996-1A09-5E58-36EA-785C8CD791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498600"/>
                <a:ext cx="5181600" cy="4678363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sz="3600" dirty="0">
                    <a:latin typeface="Aptos" panose="020B0004020202020204" pitchFamily="34" charset="0"/>
                  </a:rPr>
                  <a:t>Four Features:</a:t>
                </a:r>
              </a:p>
              <a:p>
                <a:pPr marL="0" indent="0">
                  <a:buNone/>
                </a:pPr>
                <a:endParaRPr lang="en-US" sz="200" dirty="0">
                  <a:latin typeface="Aptos" panose="020B00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m:rPr>
                              <m:nor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Transaction Amount</m:t>
                          </m:r>
                        </m:e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m:rPr>
                              <m:nor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Number of Transactions in the Last Hour</m:t>
                          </m:r>
                        </m:e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m:rPr>
                              <m:nor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Time−of−Day Risk Score</m:t>
                          </m:r>
                        </m:e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&amp;=</m:t>
                          </m:r>
                          <m:r>
                            <m:rPr>
                              <m:nor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Location Risk Score</m:t>
                          </m:r>
                        </m:e>
                      </m:eqAr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sz="3400" dirty="0"/>
                  <a:t>New transaction:   A = (2, 4, 6, 8)</a:t>
                </a:r>
              </a:p>
              <a:p>
                <a:pPr lvl="1"/>
                <a:r>
                  <a:rPr lang="en-US" sz="3400" dirty="0"/>
                  <a:t>Transaction amount score = 2 </a:t>
                </a:r>
              </a:p>
              <a:p>
                <a:pPr lvl="1"/>
                <a:r>
                  <a:rPr lang="en-US" sz="3400" dirty="0"/>
                  <a:t>Recent transaction frequency = 4 </a:t>
                </a:r>
              </a:p>
              <a:p>
                <a:pPr lvl="1"/>
                <a:r>
                  <a:rPr lang="en-US" sz="3400" dirty="0"/>
                  <a:t>Time risk = 6 </a:t>
                </a:r>
              </a:p>
              <a:p>
                <a:pPr lvl="1"/>
                <a:r>
                  <a:rPr lang="en-US" sz="3400" dirty="0"/>
                  <a:t>Location risk = 8</a:t>
                </a:r>
              </a:p>
              <a:p>
                <a:pPr marL="457200" lvl="1" indent="0">
                  <a:buNone/>
                </a:pPr>
                <a:endParaRPr lang="en-US" sz="200" dirty="0"/>
              </a:p>
              <a:p>
                <a:pPr marL="0" indent="0">
                  <a:buNone/>
                </a:pPr>
                <a:r>
                  <a:rPr lang="en-US" sz="3400" dirty="0"/>
                  <a:t>Known transaction:   B = (5, 8, 6, 8)</a:t>
                </a:r>
              </a:p>
              <a:p>
                <a:pPr lvl="1"/>
                <a:r>
                  <a:rPr lang="en-US" sz="3400" dirty="0"/>
                  <a:t>Transaction amount score = 5 </a:t>
                </a:r>
              </a:p>
              <a:p>
                <a:pPr lvl="1"/>
                <a:r>
                  <a:rPr lang="en-US" sz="3400" dirty="0"/>
                  <a:t>Recent transaction frequency = 8 </a:t>
                </a:r>
              </a:p>
              <a:p>
                <a:pPr lvl="1"/>
                <a:r>
                  <a:rPr lang="en-US" sz="3400" dirty="0"/>
                  <a:t>Time risk = 6 </a:t>
                </a:r>
              </a:p>
              <a:p>
                <a:pPr lvl="1"/>
                <a:r>
                  <a:rPr lang="en-US" sz="3400" dirty="0"/>
                  <a:t>Location risk = 8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CEF996-1A09-5E58-36EA-785C8CD79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498600"/>
                <a:ext cx="5181600" cy="4678363"/>
              </a:xfrm>
              <a:blipFill>
                <a:blip r:embed="rId2"/>
                <a:stretch>
                  <a:fillRect l="-1467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97D2391-AFBA-6D75-E218-0BD482FE4A0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498600"/>
                <a:ext cx="5181600" cy="4678363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Use:</a:t>
                </a:r>
              </a:p>
              <a:p>
                <a:pPr marL="0" indent="0"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4−8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6−6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8−8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20000"/>
                  </a:lnSpc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2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=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97D2391-AFBA-6D75-E218-0BD482FE4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498600"/>
                <a:ext cx="5181600" cy="4678363"/>
              </a:xfrm>
              <a:blipFill>
                <a:blip r:embed="rId3"/>
                <a:stretch>
                  <a:fillRect l="-733" t="-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50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1C83-CB05-5915-862E-DE215EE9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408"/>
          </a:xfrm>
        </p:spPr>
        <p:txBody>
          <a:bodyPr/>
          <a:lstStyle/>
          <a:p>
            <a:r>
              <a:rPr lang="en-US" dirty="0"/>
              <a:t>Choosing K in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33DA4-0603-5E63-D1BE-9E1A874370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3933"/>
                <a:ext cx="10515600" cy="476303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K = the number of nearest neighbors used to make the prediction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Small K</a:t>
                </a:r>
              </a:p>
              <a:p>
                <a:pPr lvl="1"/>
                <a:r>
                  <a:rPr lang="en-US" dirty="0"/>
                  <a:t>Very sensitive to individual nearby points</a:t>
                </a:r>
              </a:p>
              <a:p>
                <a:pPr lvl="1"/>
                <a:r>
                  <a:rPr lang="en-US" dirty="0"/>
                  <a:t>Can be affect by noise or outliers</a:t>
                </a:r>
              </a:p>
              <a:p>
                <a:pPr lvl="1"/>
                <a:r>
                  <a:rPr lang="en-US" dirty="0"/>
                  <a:t>Example: K = 1</a:t>
                </a:r>
              </a:p>
              <a:p>
                <a:pPr marL="0" indent="0">
                  <a:buNone/>
                </a:pPr>
                <a:r>
                  <a:rPr lang="en-US" dirty="0"/>
                  <a:t>Large K 						 </a:t>
                </a:r>
                <a:r>
                  <a:rPr lang="en-US" sz="2200" dirty="0"/>
                  <a:t>A heuristic people use: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Uses more neighbors to make the decision</a:t>
                </a:r>
              </a:p>
              <a:p>
                <a:pPr lvl="1"/>
                <a:r>
                  <a:rPr lang="en-US" dirty="0"/>
                  <a:t>Produces a smoother, more stable pattern</a:t>
                </a:r>
              </a:p>
              <a:p>
                <a:pPr lvl="1"/>
                <a:r>
                  <a:rPr lang="en-US" dirty="0"/>
                  <a:t>If K is too large, nearby patterns can be lost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 is no single best value of K. It is usually chosen by testing with different values on validation data. Odd K values are best to reduce ties.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633DA4-0603-5E63-D1BE-9E1A87437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3933"/>
                <a:ext cx="10515600" cy="4763030"/>
              </a:xfrm>
              <a:blipFill>
                <a:blip r:embed="rId2"/>
                <a:stretch>
                  <a:fillRect l="-1086" t="-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270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81B06-1FB7-7577-DB1C-24BC6D77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037"/>
            <a:ext cx="10515600" cy="1325563"/>
          </a:xfrm>
        </p:spPr>
        <p:txBody>
          <a:bodyPr/>
          <a:lstStyle/>
          <a:p>
            <a:r>
              <a:rPr lang="en-US" dirty="0"/>
              <a:t>K-Means Clustering: Core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A91DB-DC39-6356-1D81-64F3CCA8F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600"/>
            <a:ext cx="10515600" cy="4678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K-Means is an unsupervised learning algorithm used to group similar data points into clusters</a:t>
            </a:r>
          </a:p>
          <a:p>
            <a:pPr marL="0" indent="0">
              <a:buNone/>
            </a:pPr>
            <a:r>
              <a:rPr lang="en-US" dirty="0"/>
              <a:t>K-Means uses unlabeled data</a:t>
            </a:r>
          </a:p>
          <a:p>
            <a:pPr marL="0" indent="0">
              <a:buNone/>
            </a:pPr>
            <a:r>
              <a:rPr lang="en-US" dirty="0"/>
              <a:t>K = the number of clusters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How it works:</a:t>
            </a:r>
          </a:p>
          <a:p>
            <a:pPr marL="0" indent="0">
              <a:buNone/>
            </a:pPr>
            <a:r>
              <a:rPr lang="en-US" dirty="0"/>
              <a:t>Choose the number of K clusters and place K starting centroids</a:t>
            </a:r>
          </a:p>
          <a:p>
            <a:pPr marL="0" indent="0">
              <a:buNone/>
            </a:pPr>
            <a:r>
              <a:rPr lang="en-US" dirty="0"/>
              <a:t>Assign each data point to its nearest centroid</a:t>
            </a:r>
          </a:p>
          <a:p>
            <a:pPr marL="0" indent="0">
              <a:buNone/>
            </a:pPr>
            <a:r>
              <a:rPr lang="en-US" dirty="0"/>
              <a:t>Recalculate each centroid</a:t>
            </a:r>
          </a:p>
          <a:p>
            <a:pPr marL="0" indent="0">
              <a:buNone/>
            </a:pPr>
            <a:r>
              <a:rPr lang="en-US" dirty="0"/>
              <a:t>Repeat until the clusters stop changing. </a:t>
            </a:r>
          </a:p>
        </p:txBody>
      </p:sp>
    </p:spTree>
    <p:extLst>
      <p:ext uri="{BB962C8B-B14F-4D97-AF65-F5344CB8AC3E}">
        <p14:creationId xmlns:p14="http://schemas.microsoft.com/office/powerpoint/2010/main" val="67276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EEBCA4-38ED-9FFC-3DA2-5B73A62B3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10" y="203202"/>
            <a:ext cx="11492042" cy="646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87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55E8D-28E9-725A-1364-99617ECB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K-Means: The Math Behind the Clusters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971D5-269A-85BD-3789-536E2A2F5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8599"/>
                <a:ext cx="10515600" cy="467836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 dirty="0"/>
                  <a:t>Assign each point to the nearest Centroid</a:t>
                </a:r>
              </a:p>
              <a:p>
                <a:pPr marL="457200" lvl="1" indent="0">
                  <a:buNone/>
                </a:pPr>
                <a:r>
                  <a:rPr lang="en-US" dirty="0"/>
                  <a:t>Use Euclidean distance: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dirty="0" err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 dirty="0" err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en-US" i="1" dirty="0" err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sz="100" dirty="0"/>
              </a:p>
              <a:p>
                <a:pPr marL="914400" lvl="2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feature value of the data point</m:t>
                      </m:r>
                    </m:oMath>
                  </m:oMathPara>
                </a14:m>
                <a:endParaRPr lang="en-US" sz="1800" i="0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feature value of the centroid</m:t>
                      </m:r>
                    </m:oMath>
                  </m:oMathPara>
                </a14:m>
                <a:endParaRPr lang="en-US" sz="1800" i="0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Smaller distance</m:t>
                      </m:r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800" i="0" dirty="0" smtClean="0">
                          <a:latin typeface="Cambria Math" panose="02040503050406030204" pitchFamily="18" charset="0"/>
                        </a:rPr>
                        <m:t>closer centroid</m:t>
                      </m:r>
                    </m:oMath>
                  </m:oMathPara>
                </a14:m>
                <a:endParaRPr lang="en-US" sz="1800" i="0" dirty="0">
                  <a:latin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dirty="0"/>
                  <a:t>Recalculate the centroid</a:t>
                </a:r>
              </a:p>
              <a:p>
                <a:pPr marL="457200" lvl="1" indent="0">
                  <a:buNone/>
                </a:pPr>
                <a:r>
                  <a:rPr lang="en-US" dirty="0"/>
                  <a:t>The new centroid is simply the mean of all points assigned to that cluster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𝑗𝑑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sz="1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data point number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total number of dimensions</m:t>
                      </m:r>
                      <m:r>
                        <m:rPr>
                          <m:lit/>
                          <m:nor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2000" i="0" dirty="0" smtClean="0">
                          <a:latin typeface="Cambria Math" panose="02040503050406030204" pitchFamily="18" charset="0"/>
                        </a:rPr>
                        <m:t>features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sz="2000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971D5-269A-85BD-3789-536E2A2F5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8599"/>
                <a:ext cx="10515600" cy="4678363"/>
              </a:xfrm>
              <a:blipFill>
                <a:blip r:embed="rId2"/>
                <a:stretch>
                  <a:fillRect l="-1206" t="-2981" b="-15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872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344C-C90C-C157-1BA5-5290066D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8808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 Example:</a:t>
            </a:r>
            <a:br>
              <a:rPr lang="en-US" dirty="0"/>
            </a:br>
            <a:r>
              <a:rPr lang="en-US" sz="3000" dirty="0"/>
              <a:t>Calculating a New Centroid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478DF-7A8E-AAE6-1A92-2336CAFAE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0933"/>
                <a:ext cx="10515600" cy="4851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Suppose one customer cluster contains 3 customers x, and each has 3 features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2,4,6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4,6,8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6,5,7</m:t>
                          </m:r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𝐧𝐞𝐰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2+4+6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4+6+5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6+8+7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𝐧𝐞𝐰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num>
                            <m:den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4,5,7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pPr marL="0" indent="0">
                  <a:lnSpc>
                    <a:spcPct val="114000"/>
                  </a:lnSpc>
                  <a:buNone/>
                </a:pPr>
                <a:endParaRPr lang="en-US" sz="100" dirty="0">
                  <a:latin typeface="Aptos" panose="020B0004020202020204" pitchFamily="34" charset="0"/>
                </a:endParaRPr>
              </a:p>
              <a:p>
                <a:pPr marL="0" indent="0">
                  <a:lnSpc>
                    <a:spcPct val="114000"/>
                  </a:lnSpc>
                  <a:buNone/>
                </a:pPr>
                <a:r>
                  <a:rPr lang="en-US" sz="2400" dirty="0">
                    <a:latin typeface="Aptos" panose="020B0004020202020204" pitchFamily="34" charset="0"/>
                  </a:rPr>
                  <a:t>The Centroid moves to the average position of all points assigned to its cluster</a:t>
                </a:r>
              </a:p>
              <a:p>
                <a:pPr marL="0" indent="0">
                  <a:lnSpc>
                    <a:spcPct val="114000"/>
                  </a:lnSpc>
                  <a:buNone/>
                </a:pPr>
                <a:endParaRPr lang="en-US" sz="100" dirty="0">
                  <a:latin typeface="Aptos" panose="020B0004020202020204" pitchFamily="34" charset="0"/>
                </a:endParaRPr>
              </a:p>
              <a:p>
                <a:pPr marL="0" indent="0">
                  <a:lnSpc>
                    <a:spcPct val="114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𝐧𝐞𝐰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mean of feature 1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Cambria Math" panose="02040503050406030204" pitchFamily="18" charset="0"/>
                            </a:rPr>
                            <m:t>mean of feature </m:t>
                          </m:r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sz="1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5478DF-7A8E-AAE6-1A92-2336CAFAE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0933"/>
                <a:ext cx="10515600" cy="4851400"/>
              </a:xfrm>
              <a:blipFill>
                <a:blip r:embed="rId2"/>
                <a:stretch>
                  <a:fillRect l="-965" t="-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37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9CC6-7A8B-CE3D-E44A-AAACC6E27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K in K-Means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2A06B-E469-D498-8676-B4A23FC4EB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6332"/>
                <a:ext cx="10515600" cy="47430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K = the number of clusters the algorithm will create</a:t>
                </a:r>
              </a:p>
              <a:p>
                <a:pPr marL="0" indent="0">
                  <a:buNone/>
                </a:pPr>
                <a:r>
                  <a:rPr lang="en-US" dirty="0"/>
                  <a:t>No single correct value of K, values must be tested to find best K</a:t>
                </a:r>
              </a:p>
              <a:p>
                <a:pPr marL="0" indent="0">
                  <a:buNone/>
                </a:pPr>
                <a:r>
                  <a:rPr lang="en-US" dirty="0"/>
                  <a:t>Elbow Method: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Run K-Means with several values of K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Calculate the Within-Cluster Sum of Squares for each K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Plot K against WCSS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Look for the “elbow” where improvement begins to show</a:t>
                </a:r>
              </a:p>
              <a:p>
                <a:pPr marL="457200" lvl="1" indent="0">
                  <a:buNone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𝑊𝐶𝑆𝑆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lit/>
                                    </m:r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2A06B-E469-D498-8676-B4A23FC4E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6332"/>
                <a:ext cx="10515600" cy="4743027"/>
              </a:xfrm>
              <a:blipFill>
                <a:blip r:embed="rId2"/>
                <a:stretch>
                  <a:fillRect l="-1206" t="-2139" b="-35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833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DEEF-A027-C2D7-3DAC-02CF1232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Elbow Method - WCSS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45571-C0A6-7494-DFA2-A43EA2FDC9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6240" y="1690688"/>
                <a:ext cx="515395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𝑊𝐶𝑆𝑆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lit/>
                                    </m:r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number of clusters</m:t>
                      </m:r>
                    </m:oMath>
                  </m:oMathPara>
                </a14:m>
                <a:endParaRPr lang="en-US" sz="240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cluster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a data point assigned to cluster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centroid of cluster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45571-C0A6-7494-DFA2-A43EA2FDC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240" y="1690688"/>
                <a:ext cx="5153955" cy="4351338"/>
              </a:xfrm>
              <a:blipFill>
                <a:blip r:embed="rId2"/>
                <a:stretch>
                  <a:fillRect t="-27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AC3D444-F49C-E039-B738-41284EA2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195" y="1524270"/>
            <a:ext cx="6245565" cy="468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875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BE0C-8AB1-27ED-0C22-0BF2CFE6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KNN vs K-Means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659588-CDF4-ABE7-BEC1-93945DC60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641832"/>
              </p:ext>
            </p:extLst>
          </p:nvPr>
        </p:nvGraphicFramePr>
        <p:xfrm>
          <a:off x="838200" y="1825625"/>
          <a:ext cx="10515597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7439370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2169013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49827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K-Means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447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Learning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Supervised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Unsupervised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445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Labels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Required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Required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487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 =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Neighbors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Clusters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151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Goal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 a value/class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Discover Groups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258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Uses Distance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863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Real World Applications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Fraud Detection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Customer Segmentation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26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Medical Classification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Logistics Grouping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95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Insurance Risk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User Behavior Analysis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8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Recommendation System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Network Traffic Analysis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437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020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7019-F483-2C5F-F9C4-5137B472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Imbalance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26D7-B2E2-ED73-C11A-E0E921A95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Some classes occur much less than others causing an imbalance in the training data.</a:t>
            </a:r>
            <a:endParaRPr lang="en-US"/>
          </a:p>
          <a:p>
            <a:r>
              <a:rPr lang="en-US" dirty="0"/>
              <a:t>Fraud Detection is a common example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We will see a database with 284k+ transactions and only 492 are fraud.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/>
              <a:t>That means the positive cases are only 0.172% of the data.</a:t>
            </a:r>
          </a:p>
          <a:p>
            <a:r>
              <a:rPr lang="en-US" dirty="0"/>
              <a:t>To help solve this issue we use synthetic data to help increase the number of positive cases for training</a:t>
            </a:r>
          </a:p>
        </p:txBody>
      </p:sp>
    </p:spTree>
    <p:extLst>
      <p:ext uri="{BB962C8B-B14F-4D97-AF65-F5344CB8AC3E}">
        <p14:creationId xmlns:p14="http://schemas.microsoft.com/office/powerpoint/2010/main" val="221260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4787-BE62-7AD1-E640-1B61D89E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DAA3-67CF-5D70-469C-C837FE0E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Synthetic Minority Over-sampling Technique </a:t>
            </a:r>
          </a:p>
          <a:p>
            <a:r>
              <a:rPr lang="en-US" dirty="0"/>
              <a:t>Creates new synthetic minority class examples</a:t>
            </a:r>
          </a:p>
          <a:p>
            <a:r>
              <a:rPr lang="en-US" dirty="0"/>
              <a:t>Uses nearby minority data as an example to create new points</a:t>
            </a:r>
          </a:p>
          <a:p>
            <a:r>
              <a:rPr lang="en-US" dirty="0"/>
              <a:t>Applied only to training data</a:t>
            </a:r>
          </a:p>
          <a:p>
            <a:r>
              <a:rPr lang="en-US" dirty="0"/>
              <a:t>It does not just increase the number of identical cases</a:t>
            </a:r>
          </a:p>
        </p:txBody>
      </p:sp>
    </p:spTree>
    <p:extLst>
      <p:ext uri="{BB962C8B-B14F-4D97-AF65-F5344CB8AC3E}">
        <p14:creationId xmlns:p14="http://schemas.microsoft.com/office/powerpoint/2010/main" val="276122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0E7D5-B6F2-E4EB-9FC9-D8339D4B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SMOTE Tradeoff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B82B9-55F7-B32A-B4AF-8CE080F59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vert="horz" lIns="91440" tIns="45720" rIns="91440" bIns="45720" rtlCol="0" anchor="t">
                <a:normAutofit/>
              </a:bodyPr>
              <a:lstStyle/>
              <a:p>
                <a:r>
                  <a:rPr lang="en-US" dirty="0"/>
                  <a:t>More minority cases in training data can help increase detection during testing</a:t>
                </a:r>
              </a:p>
              <a:p>
                <a:r>
                  <a:rPr lang="en-US" dirty="0"/>
                  <a:t>Recall may increase 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sz="100" dirty="0"/>
              </a:p>
              <a:p>
                <a:r>
                  <a:rPr lang="en-US" dirty="0"/>
                  <a:t>However, Precision may decrease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dirty="0"/>
                  <a:t>  </a:t>
                </a:r>
              </a:p>
              <a:p>
                <a:endParaRPr lang="en-US" sz="100" dirty="0"/>
              </a:p>
              <a:p>
                <a:r>
                  <a:rPr lang="en-US" dirty="0"/>
                  <a:t>More fraud may be detected, leading to excess False Positives</a:t>
                </a:r>
              </a:p>
              <a:p>
                <a:r>
                  <a:rPr lang="en-US" dirty="0"/>
                  <a:t>The sampling ratio can be tuned it doesn’t have to be 50/50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B82B9-55F7-B32A-B4AF-8CE080F59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31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839</Words>
  <Application>Microsoft Macintosh PowerPoint</Application>
  <PresentationFormat>Widescreen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Courier New,monospace</vt:lpstr>
      <vt:lpstr>Office Theme</vt:lpstr>
      <vt:lpstr>K-Nearest Neighbors (KNN) &amp; K-means Clustering</vt:lpstr>
      <vt:lpstr>Supervised vs Unsupervised Learning</vt:lpstr>
      <vt:lpstr>K-Nearest Neighbors (KNN): Core Idea</vt:lpstr>
      <vt:lpstr>KNN: How do we Measure “Nearest”</vt:lpstr>
      <vt:lpstr>K-Nearest Neighbor Example: Fraud Detection</vt:lpstr>
      <vt:lpstr>Choosing K in KNN</vt:lpstr>
      <vt:lpstr>K-Means Clustering: Core Idea</vt:lpstr>
      <vt:lpstr>PowerPoint Presentation</vt:lpstr>
      <vt:lpstr>K-Means: The Math Behind the Clusters</vt:lpstr>
      <vt:lpstr>K-Means Example: Calculating a New Centroid</vt:lpstr>
      <vt:lpstr>Choosing K in K-Means</vt:lpstr>
      <vt:lpstr>The Elbow Method - WCSS</vt:lpstr>
      <vt:lpstr>Review: KNN vs K-Means</vt:lpstr>
      <vt:lpstr>Class Imbalance</vt:lpstr>
      <vt:lpstr>SMOTE</vt:lpstr>
      <vt:lpstr>SMOTE Tradeoff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Wondell, Caden</dc:creator>
  <cp:lastModifiedBy>Wondell, Caden</cp:lastModifiedBy>
  <cp:revision>57</cp:revision>
  <dcterms:created xsi:type="dcterms:W3CDTF">2026-09-16T19:55:50Z</dcterms:created>
  <dcterms:modified xsi:type="dcterms:W3CDTF">2026-09-17T21:40:45Z</dcterms:modified>
</cp:coreProperties>
</file>