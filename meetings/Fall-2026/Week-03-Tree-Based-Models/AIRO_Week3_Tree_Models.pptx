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280A8-1BC7-EC12-C49E-1C42CE64A83D}" v="334" dt="2026-09-24T21:08:37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21"/>
  </p:normalViewPr>
  <p:slideViewPr>
    <p:cSldViewPr snapToGrid="0">
      <p:cViewPr varScale="1">
        <p:scale>
          <a:sx n="119" d="100"/>
          <a:sy n="119" d="100"/>
        </p:scale>
        <p:origin x="50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C4129D-3320-4C94-84F3-39F9D5B61AC6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B18ECC69-EB95-4472-A926-2DA40B489D16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Patient Data</a:t>
          </a:r>
          <a:endParaRPr lang="en-US" dirty="0"/>
        </a:p>
      </dgm:t>
    </dgm:pt>
    <dgm:pt modelId="{481EBEA6-DE90-4F1C-818C-37BDDD69DE87}" type="parTrans" cxnId="{363CF74F-3AFE-4C68-AF38-F09E0A86A680}">
      <dgm:prSet/>
      <dgm:spPr/>
    </dgm:pt>
    <dgm:pt modelId="{9D9DD63D-49E5-4E08-83C9-043BE620F1B7}" type="sibTrans" cxnId="{363CF74F-3AFE-4C68-AF38-F09E0A86A680}">
      <dgm:prSet/>
      <dgm:spPr/>
      <dgm:t>
        <a:bodyPr/>
        <a:lstStyle/>
        <a:p>
          <a:endParaRPr lang="en-US"/>
        </a:p>
      </dgm:t>
    </dgm:pt>
    <dgm:pt modelId="{D2F250C4-2141-4EB9-BA55-133F1A5DB0C5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ML Models</a:t>
          </a:r>
          <a:endParaRPr lang="en-US" dirty="0"/>
        </a:p>
      </dgm:t>
    </dgm:pt>
    <dgm:pt modelId="{6F3D76CE-0235-40DC-8454-0D64940E11E7}" type="parTrans" cxnId="{9AE5C4F0-5FF2-4F61-8699-CC33223384BE}">
      <dgm:prSet/>
      <dgm:spPr/>
    </dgm:pt>
    <dgm:pt modelId="{8B3E41B2-9F16-4E4B-92CF-5132F8B578A0}" type="sibTrans" cxnId="{9AE5C4F0-5FF2-4F61-8699-CC33223384BE}">
      <dgm:prSet/>
      <dgm:spPr/>
      <dgm:t>
        <a:bodyPr/>
        <a:lstStyle/>
        <a:p>
          <a:endParaRPr lang="en-US"/>
        </a:p>
      </dgm:t>
    </dgm:pt>
    <dgm:pt modelId="{FC01AF0D-FED1-4BA8-A4CC-0A00CCA70173}">
      <dgm:prSet phldrT="[Text]" phldr="0"/>
      <dgm:spPr/>
      <dgm:t>
        <a:bodyPr/>
        <a:lstStyle/>
        <a:p>
          <a:r>
            <a:rPr lang="en-US" dirty="0">
              <a:latin typeface="Aptos Display" panose="02110004020202020204"/>
            </a:rPr>
            <a:t>LLM</a:t>
          </a:r>
          <a:endParaRPr lang="en-US" dirty="0"/>
        </a:p>
      </dgm:t>
    </dgm:pt>
    <dgm:pt modelId="{6A2CBD34-5022-4160-99BA-4B9AE312F1B3}" type="parTrans" cxnId="{F2C5DE7D-873C-4218-A839-DCD9F3859A83}">
      <dgm:prSet/>
      <dgm:spPr/>
    </dgm:pt>
    <dgm:pt modelId="{21E2182C-7A07-4623-9DE6-6DE918AC5F67}" type="sibTrans" cxnId="{F2C5DE7D-873C-4218-A839-DCD9F3859A83}">
      <dgm:prSet/>
      <dgm:spPr/>
      <dgm:t>
        <a:bodyPr/>
        <a:lstStyle/>
        <a:p>
          <a:endParaRPr lang="en-US"/>
        </a:p>
      </dgm:t>
    </dgm:pt>
    <dgm:pt modelId="{A8621CDF-9935-4F9A-92F9-DF7E23124FAD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110004020202020204"/>
            </a:rPr>
            <a:t>Clinical Dashboard</a:t>
          </a:r>
        </a:p>
      </dgm:t>
    </dgm:pt>
    <dgm:pt modelId="{3206C7DF-D51B-425C-AA61-168C91F74334}" type="parTrans" cxnId="{555C39F7-A109-4A1F-A7D1-F6BBF36C5727}">
      <dgm:prSet/>
      <dgm:spPr/>
    </dgm:pt>
    <dgm:pt modelId="{FC9B4701-3B79-4978-BCEB-90F97A3BA4A5}" type="sibTrans" cxnId="{555C39F7-A109-4A1F-A7D1-F6BBF36C5727}">
      <dgm:prSet/>
      <dgm:spPr/>
    </dgm:pt>
    <dgm:pt modelId="{342402F3-3E4D-4BF6-A5F4-6993D1050895}" type="pres">
      <dgm:prSet presAssocID="{B5C4129D-3320-4C94-84F3-39F9D5B61AC6}" presName="linearFlow" presStyleCnt="0">
        <dgm:presLayoutVars>
          <dgm:resizeHandles val="exact"/>
        </dgm:presLayoutVars>
      </dgm:prSet>
      <dgm:spPr/>
    </dgm:pt>
    <dgm:pt modelId="{1E596B5F-C03A-41F5-868C-A28076E95F2E}" type="pres">
      <dgm:prSet presAssocID="{B18ECC69-EB95-4472-A926-2DA40B489D16}" presName="node" presStyleLbl="node1" presStyleIdx="0" presStyleCnt="4">
        <dgm:presLayoutVars>
          <dgm:bulletEnabled val="1"/>
        </dgm:presLayoutVars>
      </dgm:prSet>
      <dgm:spPr/>
    </dgm:pt>
    <dgm:pt modelId="{7F415D72-772E-400A-982E-ECA88AB6E546}" type="pres">
      <dgm:prSet presAssocID="{9D9DD63D-49E5-4E08-83C9-043BE620F1B7}" presName="sibTrans" presStyleLbl="sibTrans2D1" presStyleIdx="0" presStyleCnt="3"/>
      <dgm:spPr/>
    </dgm:pt>
    <dgm:pt modelId="{D503281D-300F-4C45-9E20-783131340FF4}" type="pres">
      <dgm:prSet presAssocID="{9D9DD63D-49E5-4E08-83C9-043BE620F1B7}" presName="connectorText" presStyleLbl="sibTrans2D1" presStyleIdx="0" presStyleCnt="3"/>
      <dgm:spPr/>
    </dgm:pt>
    <dgm:pt modelId="{60BB8624-9677-4072-A517-52C6E69D4296}" type="pres">
      <dgm:prSet presAssocID="{D2F250C4-2141-4EB9-BA55-133F1A5DB0C5}" presName="node" presStyleLbl="node1" presStyleIdx="1" presStyleCnt="4">
        <dgm:presLayoutVars>
          <dgm:bulletEnabled val="1"/>
        </dgm:presLayoutVars>
      </dgm:prSet>
      <dgm:spPr/>
    </dgm:pt>
    <dgm:pt modelId="{F7146D77-12AD-4FAB-9D7C-8682B8F57BE5}" type="pres">
      <dgm:prSet presAssocID="{8B3E41B2-9F16-4E4B-92CF-5132F8B578A0}" presName="sibTrans" presStyleLbl="sibTrans2D1" presStyleIdx="1" presStyleCnt="3"/>
      <dgm:spPr/>
    </dgm:pt>
    <dgm:pt modelId="{356B1958-FC54-480A-8E6B-C2CAEB1EE30B}" type="pres">
      <dgm:prSet presAssocID="{8B3E41B2-9F16-4E4B-92CF-5132F8B578A0}" presName="connectorText" presStyleLbl="sibTrans2D1" presStyleIdx="1" presStyleCnt="3"/>
      <dgm:spPr/>
    </dgm:pt>
    <dgm:pt modelId="{72A332FD-7F5B-46A3-A080-14F4FBFD6064}" type="pres">
      <dgm:prSet presAssocID="{FC01AF0D-FED1-4BA8-A4CC-0A00CCA70173}" presName="node" presStyleLbl="node1" presStyleIdx="2" presStyleCnt="4">
        <dgm:presLayoutVars>
          <dgm:bulletEnabled val="1"/>
        </dgm:presLayoutVars>
      </dgm:prSet>
      <dgm:spPr/>
    </dgm:pt>
    <dgm:pt modelId="{DA1DB39F-7051-47BF-B60E-E031EB5601D7}" type="pres">
      <dgm:prSet presAssocID="{21E2182C-7A07-4623-9DE6-6DE918AC5F67}" presName="sibTrans" presStyleLbl="sibTrans2D1" presStyleIdx="2" presStyleCnt="3"/>
      <dgm:spPr/>
    </dgm:pt>
    <dgm:pt modelId="{6A4A8CFC-1CBA-46D6-B453-2B9544833986}" type="pres">
      <dgm:prSet presAssocID="{21E2182C-7A07-4623-9DE6-6DE918AC5F67}" presName="connectorText" presStyleLbl="sibTrans2D1" presStyleIdx="2" presStyleCnt="3"/>
      <dgm:spPr/>
    </dgm:pt>
    <dgm:pt modelId="{83AF32AE-A8FC-40C3-822D-4CD4B3344455}" type="pres">
      <dgm:prSet presAssocID="{A8621CDF-9935-4F9A-92F9-DF7E23124FAD}" presName="node" presStyleLbl="node1" presStyleIdx="3" presStyleCnt="4">
        <dgm:presLayoutVars>
          <dgm:bulletEnabled val="1"/>
        </dgm:presLayoutVars>
      </dgm:prSet>
      <dgm:spPr/>
    </dgm:pt>
  </dgm:ptLst>
  <dgm:cxnLst>
    <dgm:cxn modelId="{DA74AA0D-E90C-4671-A6CD-A23950853B50}" type="presOf" srcId="{B18ECC69-EB95-4472-A926-2DA40B489D16}" destId="{1E596B5F-C03A-41F5-868C-A28076E95F2E}" srcOrd="0" destOrd="0" presId="urn:microsoft.com/office/officeart/2005/8/layout/process2"/>
    <dgm:cxn modelId="{B4A38E23-A498-42AA-9F39-D430EE5F6625}" type="presOf" srcId="{D2F250C4-2141-4EB9-BA55-133F1A5DB0C5}" destId="{60BB8624-9677-4072-A517-52C6E69D4296}" srcOrd="0" destOrd="0" presId="urn:microsoft.com/office/officeart/2005/8/layout/process2"/>
    <dgm:cxn modelId="{A451BE23-36A8-4C1E-8633-D7F57EB8BD8E}" type="presOf" srcId="{9D9DD63D-49E5-4E08-83C9-043BE620F1B7}" destId="{7F415D72-772E-400A-982E-ECA88AB6E546}" srcOrd="0" destOrd="0" presId="urn:microsoft.com/office/officeart/2005/8/layout/process2"/>
    <dgm:cxn modelId="{F6BDDC40-9903-46FA-82DD-9D6AF9BE83A0}" type="presOf" srcId="{B5C4129D-3320-4C94-84F3-39F9D5B61AC6}" destId="{342402F3-3E4D-4BF6-A5F4-6993D1050895}" srcOrd="0" destOrd="0" presId="urn:microsoft.com/office/officeart/2005/8/layout/process2"/>
    <dgm:cxn modelId="{A346B946-775C-4F04-82E7-3228B6F741AD}" type="presOf" srcId="{9D9DD63D-49E5-4E08-83C9-043BE620F1B7}" destId="{D503281D-300F-4C45-9E20-783131340FF4}" srcOrd="1" destOrd="0" presId="urn:microsoft.com/office/officeart/2005/8/layout/process2"/>
    <dgm:cxn modelId="{363CF74F-3AFE-4C68-AF38-F09E0A86A680}" srcId="{B5C4129D-3320-4C94-84F3-39F9D5B61AC6}" destId="{B18ECC69-EB95-4472-A926-2DA40B489D16}" srcOrd="0" destOrd="0" parTransId="{481EBEA6-DE90-4F1C-818C-37BDDD69DE87}" sibTransId="{9D9DD63D-49E5-4E08-83C9-043BE620F1B7}"/>
    <dgm:cxn modelId="{24778751-CFEB-4209-BE0E-FEBB837B96BA}" type="presOf" srcId="{8B3E41B2-9F16-4E4B-92CF-5132F8B578A0}" destId="{F7146D77-12AD-4FAB-9D7C-8682B8F57BE5}" srcOrd="0" destOrd="0" presId="urn:microsoft.com/office/officeart/2005/8/layout/process2"/>
    <dgm:cxn modelId="{D291497A-8FB4-4910-B426-0B88A6558EA2}" type="presOf" srcId="{A8621CDF-9935-4F9A-92F9-DF7E23124FAD}" destId="{83AF32AE-A8FC-40C3-822D-4CD4B3344455}" srcOrd="0" destOrd="0" presId="urn:microsoft.com/office/officeart/2005/8/layout/process2"/>
    <dgm:cxn modelId="{F2C5DE7D-873C-4218-A839-DCD9F3859A83}" srcId="{B5C4129D-3320-4C94-84F3-39F9D5B61AC6}" destId="{FC01AF0D-FED1-4BA8-A4CC-0A00CCA70173}" srcOrd="2" destOrd="0" parTransId="{6A2CBD34-5022-4160-99BA-4B9AE312F1B3}" sibTransId="{21E2182C-7A07-4623-9DE6-6DE918AC5F67}"/>
    <dgm:cxn modelId="{2371D883-71A0-46C8-B9B1-E31756F12A00}" type="presOf" srcId="{8B3E41B2-9F16-4E4B-92CF-5132F8B578A0}" destId="{356B1958-FC54-480A-8E6B-C2CAEB1EE30B}" srcOrd="1" destOrd="0" presId="urn:microsoft.com/office/officeart/2005/8/layout/process2"/>
    <dgm:cxn modelId="{303044CD-2F19-4C7A-8BF2-D76CE3067257}" type="presOf" srcId="{FC01AF0D-FED1-4BA8-A4CC-0A00CCA70173}" destId="{72A332FD-7F5B-46A3-A080-14F4FBFD6064}" srcOrd="0" destOrd="0" presId="urn:microsoft.com/office/officeart/2005/8/layout/process2"/>
    <dgm:cxn modelId="{2EF2F4CF-3480-46CE-B164-313A79C71553}" type="presOf" srcId="{21E2182C-7A07-4623-9DE6-6DE918AC5F67}" destId="{6A4A8CFC-1CBA-46D6-B453-2B9544833986}" srcOrd="1" destOrd="0" presId="urn:microsoft.com/office/officeart/2005/8/layout/process2"/>
    <dgm:cxn modelId="{9AE5C4F0-5FF2-4F61-8699-CC33223384BE}" srcId="{B5C4129D-3320-4C94-84F3-39F9D5B61AC6}" destId="{D2F250C4-2141-4EB9-BA55-133F1A5DB0C5}" srcOrd="1" destOrd="0" parTransId="{6F3D76CE-0235-40DC-8454-0D64940E11E7}" sibTransId="{8B3E41B2-9F16-4E4B-92CF-5132F8B578A0}"/>
    <dgm:cxn modelId="{555C39F7-A109-4A1F-A7D1-F6BBF36C5727}" srcId="{B5C4129D-3320-4C94-84F3-39F9D5B61AC6}" destId="{A8621CDF-9935-4F9A-92F9-DF7E23124FAD}" srcOrd="3" destOrd="0" parTransId="{3206C7DF-D51B-425C-AA61-168C91F74334}" sibTransId="{FC9B4701-3B79-4978-BCEB-90F97A3BA4A5}"/>
    <dgm:cxn modelId="{B6C129F8-03DB-42C7-B017-F65BF69A039F}" type="presOf" srcId="{21E2182C-7A07-4623-9DE6-6DE918AC5F67}" destId="{DA1DB39F-7051-47BF-B60E-E031EB5601D7}" srcOrd="0" destOrd="0" presId="urn:microsoft.com/office/officeart/2005/8/layout/process2"/>
    <dgm:cxn modelId="{F5547050-2393-414E-ACCC-BF402AB42700}" type="presParOf" srcId="{342402F3-3E4D-4BF6-A5F4-6993D1050895}" destId="{1E596B5F-C03A-41F5-868C-A28076E95F2E}" srcOrd="0" destOrd="0" presId="urn:microsoft.com/office/officeart/2005/8/layout/process2"/>
    <dgm:cxn modelId="{E4B57C96-FE4F-4439-B4BC-06732AF19FB4}" type="presParOf" srcId="{342402F3-3E4D-4BF6-A5F4-6993D1050895}" destId="{7F415D72-772E-400A-982E-ECA88AB6E546}" srcOrd="1" destOrd="0" presId="urn:microsoft.com/office/officeart/2005/8/layout/process2"/>
    <dgm:cxn modelId="{B800D62F-E545-4DB1-B68C-C7DAD968AEB9}" type="presParOf" srcId="{7F415D72-772E-400A-982E-ECA88AB6E546}" destId="{D503281D-300F-4C45-9E20-783131340FF4}" srcOrd="0" destOrd="0" presId="urn:microsoft.com/office/officeart/2005/8/layout/process2"/>
    <dgm:cxn modelId="{E0832772-2726-47F8-B17D-E6C4937686DC}" type="presParOf" srcId="{342402F3-3E4D-4BF6-A5F4-6993D1050895}" destId="{60BB8624-9677-4072-A517-52C6E69D4296}" srcOrd="2" destOrd="0" presId="urn:microsoft.com/office/officeart/2005/8/layout/process2"/>
    <dgm:cxn modelId="{4C6472E6-2C05-4D09-A277-B821F33FC325}" type="presParOf" srcId="{342402F3-3E4D-4BF6-A5F4-6993D1050895}" destId="{F7146D77-12AD-4FAB-9D7C-8682B8F57BE5}" srcOrd="3" destOrd="0" presId="urn:microsoft.com/office/officeart/2005/8/layout/process2"/>
    <dgm:cxn modelId="{DC7C639C-516A-404E-8F2B-98EF3A271FE2}" type="presParOf" srcId="{F7146D77-12AD-4FAB-9D7C-8682B8F57BE5}" destId="{356B1958-FC54-480A-8E6B-C2CAEB1EE30B}" srcOrd="0" destOrd="0" presId="urn:microsoft.com/office/officeart/2005/8/layout/process2"/>
    <dgm:cxn modelId="{D3F4ACC0-B59C-4907-A2C4-774FD20209F9}" type="presParOf" srcId="{342402F3-3E4D-4BF6-A5F4-6993D1050895}" destId="{72A332FD-7F5B-46A3-A080-14F4FBFD6064}" srcOrd="4" destOrd="0" presId="urn:microsoft.com/office/officeart/2005/8/layout/process2"/>
    <dgm:cxn modelId="{53FE90FC-9496-4F09-B7A2-F5F777496FCE}" type="presParOf" srcId="{342402F3-3E4D-4BF6-A5F4-6993D1050895}" destId="{DA1DB39F-7051-47BF-B60E-E031EB5601D7}" srcOrd="5" destOrd="0" presId="urn:microsoft.com/office/officeart/2005/8/layout/process2"/>
    <dgm:cxn modelId="{79DD8850-787F-4461-8C0C-786F1F392D1B}" type="presParOf" srcId="{DA1DB39F-7051-47BF-B60E-E031EB5601D7}" destId="{6A4A8CFC-1CBA-46D6-B453-2B9544833986}" srcOrd="0" destOrd="0" presId="urn:microsoft.com/office/officeart/2005/8/layout/process2"/>
    <dgm:cxn modelId="{60BEA8D2-16DF-4EA7-AA5A-BFB12CF250F0}" type="presParOf" srcId="{342402F3-3E4D-4BF6-A5F4-6993D1050895}" destId="{83AF32AE-A8FC-40C3-822D-4CD4B3344455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A1945A-68F0-F547-B7C6-5D578C9DC7BD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832780E5-269B-F14A-9499-8B1FC60028DE}">
      <dgm:prSet phldrT="[Text]"/>
      <dgm:spPr/>
      <dgm:t>
        <a:bodyPr/>
        <a:lstStyle/>
        <a:p>
          <a:r>
            <a:rPr lang="en-US" dirty="0"/>
            <a:t>Initial Model</a:t>
          </a:r>
        </a:p>
      </dgm:t>
    </dgm:pt>
    <dgm:pt modelId="{FCF41EAD-B0BF-CD42-9ABE-6311473D3C30}" type="parTrans" cxnId="{2D03BEF7-312A-864B-ACFB-0EFCE73F3EAA}">
      <dgm:prSet/>
      <dgm:spPr/>
      <dgm:t>
        <a:bodyPr/>
        <a:lstStyle/>
        <a:p>
          <a:endParaRPr lang="en-US"/>
        </a:p>
      </dgm:t>
    </dgm:pt>
    <dgm:pt modelId="{8422E2CB-804A-AA4A-B950-B10748067604}" type="sibTrans" cxnId="{2D03BEF7-312A-864B-ACFB-0EFCE73F3EAA}">
      <dgm:prSet/>
      <dgm:spPr/>
      <dgm:t>
        <a:bodyPr/>
        <a:lstStyle/>
        <a:p>
          <a:endParaRPr lang="en-US"/>
        </a:p>
      </dgm:t>
    </dgm:pt>
    <dgm:pt modelId="{7D862D6B-4B87-D442-9762-390EC6F38535}">
      <dgm:prSet phldrT="[Text]"/>
      <dgm:spPr/>
      <dgm:t>
        <a:bodyPr/>
        <a:lstStyle/>
        <a:p>
          <a:r>
            <a:rPr lang="en-US" dirty="0"/>
            <a:t>Current Errors</a:t>
          </a:r>
        </a:p>
      </dgm:t>
    </dgm:pt>
    <dgm:pt modelId="{8F9654B2-34FB-714F-A63D-5E2F1CF9887D}" type="parTrans" cxnId="{988C3090-3BDC-1748-BAFC-723BE7FAFA9C}">
      <dgm:prSet/>
      <dgm:spPr/>
      <dgm:t>
        <a:bodyPr/>
        <a:lstStyle/>
        <a:p>
          <a:endParaRPr lang="en-US"/>
        </a:p>
      </dgm:t>
    </dgm:pt>
    <dgm:pt modelId="{F667DA14-C624-EE47-814D-7C67114ADF1D}" type="sibTrans" cxnId="{988C3090-3BDC-1748-BAFC-723BE7FAFA9C}">
      <dgm:prSet/>
      <dgm:spPr/>
      <dgm:t>
        <a:bodyPr/>
        <a:lstStyle/>
        <a:p>
          <a:endParaRPr lang="en-US"/>
        </a:p>
      </dgm:t>
    </dgm:pt>
    <dgm:pt modelId="{CBA04349-B44B-9845-B15D-6F0D38363715}">
      <dgm:prSet phldrT="[Text]"/>
      <dgm:spPr/>
      <dgm:t>
        <a:bodyPr/>
        <a:lstStyle/>
        <a:p>
          <a:r>
            <a:rPr lang="en-US" dirty="0"/>
            <a:t>New Tree</a:t>
          </a:r>
        </a:p>
      </dgm:t>
    </dgm:pt>
    <dgm:pt modelId="{9AE3A9E9-93EB-CD45-B91A-95F1AB9BAFE4}" type="parTrans" cxnId="{1372AB67-9587-334B-88EA-8DB25F1EBAD9}">
      <dgm:prSet/>
      <dgm:spPr/>
      <dgm:t>
        <a:bodyPr/>
        <a:lstStyle/>
        <a:p>
          <a:endParaRPr lang="en-US"/>
        </a:p>
      </dgm:t>
    </dgm:pt>
    <dgm:pt modelId="{9DB9D81C-2F2B-A94E-BADA-253FE7C86B87}" type="sibTrans" cxnId="{1372AB67-9587-334B-88EA-8DB25F1EBAD9}">
      <dgm:prSet/>
      <dgm:spPr/>
      <dgm:t>
        <a:bodyPr/>
        <a:lstStyle/>
        <a:p>
          <a:endParaRPr lang="en-US"/>
        </a:p>
      </dgm:t>
    </dgm:pt>
    <dgm:pt modelId="{E1844210-0BBB-BA4C-BD1C-5CC730A9DE63}">
      <dgm:prSet phldrT="[Text]"/>
      <dgm:spPr/>
      <dgm:t>
        <a:bodyPr/>
        <a:lstStyle/>
        <a:p>
          <a:r>
            <a:rPr lang="en-US" dirty="0"/>
            <a:t>Improved Model</a:t>
          </a:r>
        </a:p>
      </dgm:t>
    </dgm:pt>
    <dgm:pt modelId="{8F2C569C-3448-A941-B796-FFE41F405605}" type="parTrans" cxnId="{8DD1C42B-C326-6441-8A01-857E935F6330}">
      <dgm:prSet/>
      <dgm:spPr/>
      <dgm:t>
        <a:bodyPr/>
        <a:lstStyle/>
        <a:p>
          <a:endParaRPr lang="en-US"/>
        </a:p>
      </dgm:t>
    </dgm:pt>
    <dgm:pt modelId="{E4972D19-39A4-DF4A-8A2A-7C0C861DB664}" type="sibTrans" cxnId="{8DD1C42B-C326-6441-8A01-857E935F6330}">
      <dgm:prSet/>
      <dgm:spPr/>
      <dgm:t>
        <a:bodyPr/>
        <a:lstStyle/>
        <a:p>
          <a:endParaRPr lang="en-US"/>
        </a:p>
      </dgm:t>
    </dgm:pt>
    <dgm:pt modelId="{314FE4C3-EF8B-8647-89C1-81BCEC8C2651}">
      <dgm:prSet phldrT="[Text]"/>
      <dgm:spPr/>
      <dgm:t>
        <a:bodyPr/>
        <a:lstStyle/>
        <a:p>
          <a:r>
            <a:rPr lang="en-US" dirty="0"/>
            <a:t>Remaining Errors</a:t>
          </a:r>
        </a:p>
      </dgm:t>
    </dgm:pt>
    <dgm:pt modelId="{9133EE9C-40C5-AA46-80D4-E018D14A1CBB}" type="parTrans" cxnId="{0617AA08-4CDB-F94C-870E-F29C85DD909B}">
      <dgm:prSet/>
      <dgm:spPr/>
      <dgm:t>
        <a:bodyPr/>
        <a:lstStyle/>
        <a:p>
          <a:endParaRPr lang="en-US"/>
        </a:p>
      </dgm:t>
    </dgm:pt>
    <dgm:pt modelId="{72CB2D42-265F-BB43-8403-D8F3CB7437E6}" type="sibTrans" cxnId="{0617AA08-4CDB-F94C-870E-F29C85DD909B}">
      <dgm:prSet/>
      <dgm:spPr/>
      <dgm:t>
        <a:bodyPr/>
        <a:lstStyle/>
        <a:p>
          <a:endParaRPr lang="en-US"/>
        </a:p>
      </dgm:t>
    </dgm:pt>
    <dgm:pt modelId="{C7D0323A-2EF0-1A43-B553-AE300809C970}">
      <dgm:prSet phldrT="[Text]"/>
      <dgm:spPr/>
      <dgm:t>
        <a:bodyPr/>
        <a:lstStyle/>
        <a:p>
          <a:r>
            <a:rPr lang="en-US" dirty="0"/>
            <a:t>New Tree</a:t>
          </a:r>
        </a:p>
      </dgm:t>
    </dgm:pt>
    <dgm:pt modelId="{F803936C-AB3D-FE49-AE6E-829575742B71}" type="parTrans" cxnId="{EF21DBD7-4102-5448-B568-4FA0CF195FE5}">
      <dgm:prSet/>
      <dgm:spPr/>
      <dgm:t>
        <a:bodyPr/>
        <a:lstStyle/>
        <a:p>
          <a:endParaRPr lang="en-US"/>
        </a:p>
      </dgm:t>
    </dgm:pt>
    <dgm:pt modelId="{41B56977-DD95-E64E-8B63-C86F4125AF4B}" type="sibTrans" cxnId="{EF21DBD7-4102-5448-B568-4FA0CF195FE5}">
      <dgm:prSet/>
      <dgm:spPr/>
      <dgm:t>
        <a:bodyPr/>
        <a:lstStyle/>
        <a:p>
          <a:endParaRPr lang="en-US"/>
        </a:p>
      </dgm:t>
    </dgm:pt>
    <dgm:pt modelId="{6975CB67-81E9-EF48-AAE7-1067CEF856C6}" type="pres">
      <dgm:prSet presAssocID="{32A1945A-68F0-F547-B7C6-5D578C9DC7BD}" presName="linearFlow" presStyleCnt="0">
        <dgm:presLayoutVars>
          <dgm:resizeHandles val="exact"/>
        </dgm:presLayoutVars>
      </dgm:prSet>
      <dgm:spPr/>
    </dgm:pt>
    <dgm:pt modelId="{A117D823-A1D8-6141-90C6-A6D991C942B1}" type="pres">
      <dgm:prSet presAssocID="{832780E5-269B-F14A-9499-8B1FC60028DE}" presName="node" presStyleLbl="node1" presStyleIdx="0" presStyleCnt="6">
        <dgm:presLayoutVars>
          <dgm:bulletEnabled val="1"/>
        </dgm:presLayoutVars>
      </dgm:prSet>
      <dgm:spPr/>
    </dgm:pt>
    <dgm:pt modelId="{50DA9CC8-7B1D-924D-A760-B233C1D0BE8A}" type="pres">
      <dgm:prSet presAssocID="{8422E2CB-804A-AA4A-B950-B10748067604}" presName="sibTrans" presStyleLbl="sibTrans2D1" presStyleIdx="0" presStyleCnt="5"/>
      <dgm:spPr/>
    </dgm:pt>
    <dgm:pt modelId="{3F7D05C9-03A3-3740-A97A-0F8E87111C4A}" type="pres">
      <dgm:prSet presAssocID="{8422E2CB-804A-AA4A-B950-B10748067604}" presName="connectorText" presStyleLbl="sibTrans2D1" presStyleIdx="0" presStyleCnt="5"/>
      <dgm:spPr/>
    </dgm:pt>
    <dgm:pt modelId="{90CC514E-F395-6D40-96CF-C35FCD975B69}" type="pres">
      <dgm:prSet presAssocID="{7D862D6B-4B87-D442-9762-390EC6F38535}" presName="node" presStyleLbl="node1" presStyleIdx="1" presStyleCnt="6">
        <dgm:presLayoutVars>
          <dgm:bulletEnabled val="1"/>
        </dgm:presLayoutVars>
      </dgm:prSet>
      <dgm:spPr/>
    </dgm:pt>
    <dgm:pt modelId="{5A0B620C-AD8D-A94B-A675-38412CA3BB2A}" type="pres">
      <dgm:prSet presAssocID="{F667DA14-C624-EE47-814D-7C67114ADF1D}" presName="sibTrans" presStyleLbl="sibTrans2D1" presStyleIdx="1" presStyleCnt="5"/>
      <dgm:spPr/>
    </dgm:pt>
    <dgm:pt modelId="{AB415BC2-CA60-0644-94E2-3D49C2C6DA5D}" type="pres">
      <dgm:prSet presAssocID="{F667DA14-C624-EE47-814D-7C67114ADF1D}" presName="connectorText" presStyleLbl="sibTrans2D1" presStyleIdx="1" presStyleCnt="5"/>
      <dgm:spPr/>
    </dgm:pt>
    <dgm:pt modelId="{693469F4-C235-6F4D-A691-9D1FFAC49E8C}" type="pres">
      <dgm:prSet presAssocID="{CBA04349-B44B-9845-B15D-6F0D38363715}" presName="node" presStyleLbl="node1" presStyleIdx="2" presStyleCnt="6">
        <dgm:presLayoutVars>
          <dgm:bulletEnabled val="1"/>
        </dgm:presLayoutVars>
      </dgm:prSet>
      <dgm:spPr/>
    </dgm:pt>
    <dgm:pt modelId="{4D0D8CEC-C06A-5A4F-B535-E9848816E9F1}" type="pres">
      <dgm:prSet presAssocID="{9DB9D81C-2F2B-A94E-BADA-253FE7C86B87}" presName="sibTrans" presStyleLbl="sibTrans2D1" presStyleIdx="2" presStyleCnt="5"/>
      <dgm:spPr/>
    </dgm:pt>
    <dgm:pt modelId="{7AEA7365-1389-DF4B-B76E-1DB92DCF7ECA}" type="pres">
      <dgm:prSet presAssocID="{9DB9D81C-2F2B-A94E-BADA-253FE7C86B87}" presName="connectorText" presStyleLbl="sibTrans2D1" presStyleIdx="2" presStyleCnt="5"/>
      <dgm:spPr/>
    </dgm:pt>
    <dgm:pt modelId="{4DAA6EF1-5C53-3D47-97DF-9A3F8102DB8E}" type="pres">
      <dgm:prSet presAssocID="{E1844210-0BBB-BA4C-BD1C-5CC730A9DE63}" presName="node" presStyleLbl="node1" presStyleIdx="3" presStyleCnt="6" custLinFactY="8780" custLinFactNeighborX="62564" custLinFactNeighborY="100000">
        <dgm:presLayoutVars>
          <dgm:bulletEnabled val="1"/>
        </dgm:presLayoutVars>
      </dgm:prSet>
      <dgm:spPr/>
    </dgm:pt>
    <dgm:pt modelId="{DA00F8D1-E6A1-C145-AB9B-EA83C72EB70A}" type="pres">
      <dgm:prSet presAssocID="{E4972D19-39A4-DF4A-8A2A-7C0C861DB664}" presName="sibTrans" presStyleLbl="sibTrans2D1" presStyleIdx="3" presStyleCnt="5"/>
      <dgm:spPr/>
    </dgm:pt>
    <dgm:pt modelId="{C3D3EFF1-C018-8441-9FE3-F6C7781F76CA}" type="pres">
      <dgm:prSet presAssocID="{E4972D19-39A4-DF4A-8A2A-7C0C861DB664}" presName="connectorText" presStyleLbl="sibTrans2D1" presStyleIdx="3" presStyleCnt="5"/>
      <dgm:spPr/>
    </dgm:pt>
    <dgm:pt modelId="{88621D3E-9314-9A44-A394-88CEB02C24C2}" type="pres">
      <dgm:prSet presAssocID="{314FE4C3-EF8B-8647-89C1-81BCEC8C2651}" presName="node" presStyleLbl="node1" presStyleIdx="4" presStyleCnt="6" custLinFactY="-41220" custLinFactNeighborX="-64141" custLinFactNeighborY="-100000">
        <dgm:presLayoutVars>
          <dgm:bulletEnabled val="1"/>
        </dgm:presLayoutVars>
      </dgm:prSet>
      <dgm:spPr/>
    </dgm:pt>
    <dgm:pt modelId="{85EB48AB-7E58-5D4D-AE59-1CAEEFCCF5DF}" type="pres">
      <dgm:prSet presAssocID="{72CB2D42-265F-BB43-8403-D8F3CB7437E6}" presName="sibTrans" presStyleLbl="sibTrans2D1" presStyleIdx="4" presStyleCnt="5"/>
      <dgm:spPr/>
    </dgm:pt>
    <dgm:pt modelId="{931F65CC-9E80-CE48-B9BF-08DC8E9A9148}" type="pres">
      <dgm:prSet presAssocID="{72CB2D42-265F-BB43-8403-D8F3CB7437E6}" presName="connectorText" presStyleLbl="sibTrans2D1" presStyleIdx="4" presStyleCnt="5"/>
      <dgm:spPr/>
    </dgm:pt>
    <dgm:pt modelId="{447CA68A-CCDE-AE46-9A07-251837F4D9F3}" type="pres">
      <dgm:prSet presAssocID="{C7D0323A-2EF0-1A43-B553-AE300809C970}" presName="node" presStyleLbl="node1" presStyleIdx="5" presStyleCnt="6" custLinFactY="-300000" custLinFactNeighborX="0" custLinFactNeighborY="-305218">
        <dgm:presLayoutVars>
          <dgm:bulletEnabled val="1"/>
        </dgm:presLayoutVars>
      </dgm:prSet>
      <dgm:spPr/>
    </dgm:pt>
  </dgm:ptLst>
  <dgm:cxnLst>
    <dgm:cxn modelId="{0617AA08-4CDB-F94C-870E-F29C85DD909B}" srcId="{32A1945A-68F0-F547-B7C6-5D578C9DC7BD}" destId="{314FE4C3-EF8B-8647-89C1-81BCEC8C2651}" srcOrd="4" destOrd="0" parTransId="{9133EE9C-40C5-AA46-80D4-E018D14A1CBB}" sibTransId="{72CB2D42-265F-BB43-8403-D8F3CB7437E6}"/>
    <dgm:cxn modelId="{6F486821-C386-4F47-A61A-731C5E5EA9FD}" type="presOf" srcId="{314FE4C3-EF8B-8647-89C1-81BCEC8C2651}" destId="{88621D3E-9314-9A44-A394-88CEB02C24C2}" srcOrd="0" destOrd="0" presId="urn:microsoft.com/office/officeart/2005/8/layout/process2"/>
    <dgm:cxn modelId="{8D7D5428-0099-D942-B5BD-2510458756AE}" type="presOf" srcId="{832780E5-269B-F14A-9499-8B1FC60028DE}" destId="{A117D823-A1D8-6141-90C6-A6D991C942B1}" srcOrd="0" destOrd="0" presId="urn:microsoft.com/office/officeart/2005/8/layout/process2"/>
    <dgm:cxn modelId="{8DD1C42B-C326-6441-8A01-857E935F6330}" srcId="{32A1945A-68F0-F547-B7C6-5D578C9DC7BD}" destId="{E1844210-0BBB-BA4C-BD1C-5CC730A9DE63}" srcOrd="3" destOrd="0" parTransId="{8F2C569C-3448-A941-B796-FFE41F405605}" sibTransId="{E4972D19-39A4-DF4A-8A2A-7C0C861DB664}"/>
    <dgm:cxn modelId="{3E080A3C-3747-EC46-8CDE-A8A3D944C2F4}" type="presOf" srcId="{F667DA14-C624-EE47-814D-7C67114ADF1D}" destId="{5A0B620C-AD8D-A94B-A675-38412CA3BB2A}" srcOrd="0" destOrd="0" presId="urn:microsoft.com/office/officeart/2005/8/layout/process2"/>
    <dgm:cxn modelId="{4B87E13C-C513-1646-9A3F-14674E6DB5BC}" type="presOf" srcId="{E1844210-0BBB-BA4C-BD1C-5CC730A9DE63}" destId="{4DAA6EF1-5C53-3D47-97DF-9A3F8102DB8E}" srcOrd="0" destOrd="0" presId="urn:microsoft.com/office/officeart/2005/8/layout/process2"/>
    <dgm:cxn modelId="{88B1B040-1BD2-5A42-8130-8AFFC44D1193}" type="presOf" srcId="{9DB9D81C-2F2B-A94E-BADA-253FE7C86B87}" destId="{4D0D8CEC-C06A-5A4F-B535-E9848816E9F1}" srcOrd="0" destOrd="0" presId="urn:microsoft.com/office/officeart/2005/8/layout/process2"/>
    <dgm:cxn modelId="{1372AB67-9587-334B-88EA-8DB25F1EBAD9}" srcId="{32A1945A-68F0-F547-B7C6-5D578C9DC7BD}" destId="{CBA04349-B44B-9845-B15D-6F0D38363715}" srcOrd="2" destOrd="0" parTransId="{9AE3A9E9-93EB-CD45-B91A-95F1AB9BAFE4}" sibTransId="{9DB9D81C-2F2B-A94E-BADA-253FE7C86B87}"/>
    <dgm:cxn modelId="{DBB62157-D9E9-FA40-A9F6-410FF9CECD86}" type="presOf" srcId="{32A1945A-68F0-F547-B7C6-5D578C9DC7BD}" destId="{6975CB67-81E9-EF48-AAE7-1067CEF856C6}" srcOrd="0" destOrd="0" presId="urn:microsoft.com/office/officeart/2005/8/layout/process2"/>
    <dgm:cxn modelId="{0ECBD27B-464E-9541-8020-9764F0A51756}" type="presOf" srcId="{9DB9D81C-2F2B-A94E-BADA-253FE7C86B87}" destId="{7AEA7365-1389-DF4B-B76E-1DB92DCF7ECA}" srcOrd="1" destOrd="0" presId="urn:microsoft.com/office/officeart/2005/8/layout/process2"/>
    <dgm:cxn modelId="{5F564182-AA71-3E40-9D9C-46E1243BC7A9}" type="presOf" srcId="{8422E2CB-804A-AA4A-B950-B10748067604}" destId="{3F7D05C9-03A3-3740-A97A-0F8E87111C4A}" srcOrd="1" destOrd="0" presId="urn:microsoft.com/office/officeart/2005/8/layout/process2"/>
    <dgm:cxn modelId="{38AEB187-3DA7-8543-AD4A-285188A9A3D7}" type="presOf" srcId="{72CB2D42-265F-BB43-8403-D8F3CB7437E6}" destId="{931F65CC-9E80-CE48-B9BF-08DC8E9A9148}" srcOrd="1" destOrd="0" presId="urn:microsoft.com/office/officeart/2005/8/layout/process2"/>
    <dgm:cxn modelId="{988C3090-3BDC-1748-BAFC-723BE7FAFA9C}" srcId="{32A1945A-68F0-F547-B7C6-5D578C9DC7BD}" destId="{7D862D6B-4B87-D442-9762-390EC6F38535}" srcOrd="1" destOrd="0" parTransId="{8F9654B2-34FB-714F-A63D-5E2F1CF9887D}" sibTransId="{F667DA14-C624-EE47-814D-7C67114ADF1D}"/>
    <dgm:cxn modelId="{36DC5EA1-586D-7044-9868-202246881193}" type="presOf" srcId="{E4972D19-39A4-DF4A-8A2A-7C0C861DB664}" destId="{C3D3EFF1-C018-8441-9FE3-F6C7781F76CA}" srcOrd="1" destOrd="0" presId="urn:microsoft.com/office/officeart/2005/8/layout/process2"/>
    <dgm:cxn modelId="{AB167FA3-8DB0-5B41-AD04-4209DCA48727}" type="presOf" srcId="{7D862D6B-4B87-D442-9762-390EC6F38535}" destId="{90CC514E-F395-6D40-96CF-C35FCD975B69}" srcOrd="0" destOrd="0" presId="urn:microsoft.com/office/officeart/2005/8/layout/process2"/>
    <dgm:cxn modelId="{6AE6A7A4-022B-4040-BA5D-6766B3467738}" type="presOf" srcId="{72CB2D42-265F-BB43-8403-D8F3CB7437E6}" destId="{85EB48AB-7E58-5D4D-AE59-1CAEEFCCF5DF}" srcOrd="0" destOrd="0" presId="urn:microsoft.com/office/officeart/2005/8/layout/process2"/>
    <dgm:cxn modelId="{EEB516B5-576F-A648-B83F-99F4746DFC1B}" type="presOf" srcId="{C7D0323A-2EF0-1A43-B553-AE300809C970}" destId="{447CA68A-CCDE-AE46-9A07-251837F4D9F3}" srcOrd="0" destOrd="0" presId="urn:microsoft.com/office/officeart/2005/8/layout/process2"/>
    <dgm:cxn modelId="{0E55EAB9-AA1A-4348-99F2-1A2C62321660}" type="presOf" srcId="{E4972D19-39A4-DF4A-8A2A-7C0C861DB664}" destId="{DA00F8D1-E6A1-C145-AB9B-EA83C72EB70A}" srcOrd="0" destOrd="0" presId="urn:microsoft.com/office/officeart/2005/8/layout/process2"/>
    <dgm:cxn modelId="{4BE0F8CB-EDF3-7347-BDEC-5764452BF37B}" type="presOf" srcId="{8422E2CB-804A-AA4A-B950-B10748067604}" destId="{50DA9CC8-7B1D-924D-A760-B233C1D0BE8A}" srcOrd="0" destOrd="0" presId="urn:microsoft.com/office/officeart/2005/8/layout/process2"/>
    <dgm:cxn modelId="{B44157D4-A697-F646-8B05-0511651D2FF5}" type="presOf" srcId="{CBA04349-B44B-9845-B15D-6F0D38363715}" destId="{693469F4-C235-6F4D-A691-9D1FFAC49E8C}" srcOrd="0" destOrd="0" presId="urn:microsoft.com/office/officeart/2005/8/layout/process2"/>
    <dgm:cxn modelId="{EF21DBD7-4102-5448-B568-4FA0CF195FE5}" srcId="{32A1945A-68F0-F547-B7C6-5D578C9DC7BD}" destId="{C7D0323A-2EF0-1A43-B553-AE300809C970}" srcOrd="5" destOrd="0" parTransId="{F803936C-AB3D-FE49-AE6E-829575742B71}" sibTransId="{41B56977-DD95-E64E-8B63-C86F4125AF4B}"/>
    <dgm:cxn modelId="{0602B4E8-AD70-7C43-92EE-F258BA9BCD85}" type="presOf" srcId="{F667DA14-C624-EE47-814D-7C67114ADF1D}" destId="{AB415BC2-CA60-0644-94E2-3D49C2C6DA5D}" srcOrd="1" destOrd="0" presId="urn:microsoft.com/office/officeart/2005/8/layout/process2"/>
    <dgm:cxn modelId="{2D03BEF7-312A-864B-ACFB-0EFCE73F3EAA}" srcId="{32A1945A-68F0-F547-B7C6-5D578C9DC7BD}" destId="{832780E5-269B-F14A-9499-8B1FC60028DE}" srcOrd="0" destOrd="0" parTransId="{FCF41EAD-B0BF-CD42-9ABE-6311473D3C30}" sibTransId="{8422E2CB-804A-AA4A-B950-B10748067604}"/>
    <dgm:cxn modelId="{E42802A6-D917-714C-A1FE-5180C9D3927C}" type="presParOf" srcId="{6975CB67-81E9-EF48-AAE7-1067CEF856C6}" destId="{A117D823-A1D8-6141-90C6-A6D991C942B1}" srcOrd="0" destOrd="0" presId="urn:microsoft.com/office/officeart/2005/8/layout/process2"/>
    <dgm:cxn modelId="{C7BF85BE-CC1F-A64E-8D3D-30EE48CE40EA}" type="presParOf" srcId="{6975CB67-81E9-EF48-AAE7-1067CEF856C6}" destId="{50DA9CC8-7B1D-924D-A760-B233C1D0BE8A}" srcOrd="1" destOrd="0" presId="urn:microsoft.com/office/officeart/2005/8/layout/process2"/>
    <dgm:cxn modelId="{91E69298-09B2-9A43-AEAC-8037E3CD78E0}" type="presParOf" srcId="{50DA9CC8-7B1D-924D-A760-B233C1D0BE8A}" destId="{3F7D05C9-03A3-3740-A97A-0F8E87111C4A}" srcOrd="0" destOrd="0" presId="urn:microsoft.com/office/officeart/2005/8/layout/process2"/>
    <dgm:cxn modelId="{CC8D951D-1D2B-0F47-B676-ED2DFE961E72}" type="presParOf" srcId="{6975CB67-81E9-EF48-AAE7-1067CEF856C6}" destId="{90CC514E-F395-6D40-96CF-C35FCD975B69}" srcOrd="2" destOrd="0" presId="urn:microsoft.com/office/officeart/2005/8/layout/process2"/>
    <dgm:cxn modelId="{F192CDA8-1676-A544-B232-BF0A6D132DB9}" type="presParOf" srcId="{6975CB67-81E9-EF48-AAE7-1067CEF856C6}" destId="{5A0B620C-AD8D-A94B-A675-38412CA3BB2A}" srcOrd="3" destOrd="0" presId="urn:microsoft.com/office/officeart/2005/8/layout/process2"/>
    <dgm:cxn modelId="{D540BA98-B99E-B54E-99B4-BC62011128B2}" type="presParOf" srcId="{5A0B620C-AD8D-A94B-A675-38412CA3BB2A}" destId="{AB415BC2-CA60-0644-94E2-3D49C2C6DA5D}" srcOrd="0" destOrd="0" presId="urn:microsoft.com/office/officeart/2005/8/layout/process2"/>
    <dgm:cxn modelId="{5437DEBA-B95C-E54C-8144-CE813367769B}" type="presParOf" srcId="{6975CB67-81E9-EF48-AAE7-1067CEF856C6}" destId="{693469F4-C235-6F4D-A691-9D1FFAC49E8C}" srcOrd="4" destOrd="0" presId="urn:microsoft.com/office/officeart/2005/8/layout/process2"/>
    <dgm:cxn modelId="{BAD66C35-662C-3041-8D1E-678E5A2A8A10}" type="presParOf" srcId="{6975CB67-81E9-EF48-AAE7-1067CEF856C6}" destId="{4D0D8CEC-C06A-5A4F-B535-E9848816E9F1}" srcOrd="5" destOrd="0" presId="urn:microsoft.com/office/officeart/2005/8/layout/process2"/>
    <dgm:cxn modelId="{BAD7E0A8-7C9C-2540-BD1E-B5373BFBC575}" type="presParOf" srcId="{4D0D8CEC-C06A-5A4F-B535-E9848816E9F1}" destId="{7AEA7365-1389-DF4B-B76E-1DB92DCF7ECA}" srcOrd="0" destOrd="0" presId="urn:microsoft.com/office/officeart/2005/8/layout/process2"/>
    <dgm:cxn modelId="{439669AB-2F65-3643-9F2F-678509EADBB9}" type="presParOf" srcId="{6975CB67-81E9-EF48-AAE7-1067CEF856C6}" destId="{4DAA6EF1-5C53-3D47-97DF-9A3F8102DB8E}" srcOrd="6" destOrd="0" presId="urn:microsoft.com/office/officeart/2005/8/layout/process2"/>
    <dgm:cxn modelId="{EE44221A-D2DC-8E41-B83B-8CD49173DFF2}" type="presParOf" srcId="{6975CB67-81E9-EF48-AAE7-1067CEF856C6}" destId="{DA00F8D1-E6A1-C145-AB9B-EA83C72EB70A}" srcOrd="7" destOrd="0" presId="urn:microsoft.com/office/officeart/2005/8/layout/process2"/>
    <dgm:cxn modelId="{80C96269-D79E-1C49-98E1-562EA757147F}" type="presParOf" srcId="{DA00F8D1-E6A1-C145-AB9B-EA83C72EB70A}" destId="{C3D3EFF1-C018-8441-9FE3-F6C7781F76CA}" srcOrd="0" destOrd="0" presId="urn:microsoft.com/office/officeart/2005/8/layout/process2"/>
    <dgm:cxn modelId="{AEE046CA-58E3-9748-84C5-3FC7C682D1B7}" type="presParOf" srcId="{6975CB67-81E9-EF48-AAE7-1067CEF856C6}" destId="{88621D3E-9314-9A44-A394-88CEB02C24C2}" srcOrd="8" destOrd="0" presId="urn:microsoft.com/office/officeart/2005/8/layout/process2"/>
    <dgm:cxn modelId="{E5829C06-AC7C-5F47-B10B-7A8CBB1401A6}" type="presParOf" srcId="{6975CB67-81E9-EF48-AAE7-1067CEF856C6}" destId="{85EB48AB-7E58-5D4D-AE59-1CAEEFCCF5DF}" srcOrd="9" destOrd="0" presId="urn:microsoft.com/office/officeart/2005/8/layout/process2"/>
    <dgm:cxn modelId="{475295D1-A443-E645-A1BC-3A32D30BE935}" type="presParOf" srcId="{85EB48AB-7E58-5D4D-AE59-1CAEEFCCF5DF}" destId="{931F65CC-9E80-CE48-B9BF-08DC8E9A9148}" srcOrd="0" destOrd="0" presId="urn:microsoft.com/office/officeart/2005/8/layout/process2"/>
    <dgm:cxn modelId="{47D007A8-D3E7-1242-B916-38D545E717AC}" type="presParOf" srcId="{6975CB67-81E9-EF48-AAE7-1067CEF856C6}" destId="{447CA68A-CCDE-AE46-9A07-251837F4D9F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96B5F-C03A-41F5-868C-A28076E95F2E}">
      <dsp:nvSpPr>
        <dsp:cNvPr id="0" name=""/>
        <dsp:cNvSpPr/>
      </dsp:nvSpPr>
      <dsp:spPr>
        <a:xfrm>
          <a:off x="1309105" y="1785"/>
          <a:ext cx="1953789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110004020202020204"/>
            </a:rPr>
            <a:t>Patient Data</a:t>
          </a:r>
          <a:endParaRPr lang="en-US" sz="1800" kern="1200" dirty="0"/>
        </a:p>
      </dsp:txBody>
      <dsp:txXfrm>
        <a:off x="1328564" y="21244"/>
        <a:ext cx="1914871" cy="625450"/>
      </dsp:txXfrm>
    </dsp:sp>
    <dsp:sp modelId="{7F415D72-772E-400A-982E-ECA88AB6E546}">
      <dsp:nvSpPr>
        <dsp:cNvPr id="0" name=""/>
        <dsp:cNvSpPr/>
      </dsp:nvSpPr>
      <dsp:spPr>
        <a:xfrm rot="5400000">
          <a:off x="2161430" y="682763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2196310" y="707677"/>
        <a:ext cx="179379" cy="174397"/>
      </dsp:txXfrm>
    </dsp:sp>
    <dsp:sp modelId="{60BB8624-9677-4072-A517-52C6E69D4296}">
      <dsp:nvSpPr>
        <dsp:cNvPr id="0" name=""/>
        <dsp:cNvSpPr/>
      </dsp:nvSpPr>
      <dsp:spPr>
        <a:xfrm>
          <a:off x="1309105" y="998339"/>
          <a:ext cx="1953789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110004020202020204"/>
            </a:rPr>
            <a:t>ML Models</a:t>
          </a:r>
          <a:endParaRPr lang="en-US" sz="1800" kern="1200" dirty="0"/>
        </a:p>
      </dsp:txBody>
      <dsp:txXfrm>
        <a:off x="1328564" y="1017798"/>
        <a:ext cx="1914871" cy="625450"/>
      </dsp:txXfrm>
    </dsp:sp>
    <dsp:sp modelId="{F7146D77-12AD-4FAB-9D7C-8682B8F57BE5}">
      <dsp:nvSpPr>
        <dsp:cNvPr id="0" name=""/>
        <dsp:cNvSpPr/>
      </dsp:nvSpPr>
      <dsp:spPr>
        <a:xfrm rot="5400000">
          <a:off x="2161430" y="1679317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2196310" y="1704231"/>
        <a:ext cx="179379" cy="174397"/>
      </dsp:txXfrm>
    </dsp:sp>
    <dsp:sp modelId="{72A332FD-7F5B-46A3-A080-14F4FBFD6064}">
      <dsp:nvSpPr>
        <dsp:cNvPr id="0" name=""/>
        <dsp:cNvSpPr/>
      </dsp:nvSpPr>
      <dsp:spPr>
        <a:xfrm>
          <a:off x="1309105" y="1994892"/>
          <a:ext cx="1953789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110004020202020204"/>
            </a:rPr>
            <a:t>LLM</a:t>
          </a:r>
          <a:endParaRPr lang="en-US" sz="1800" kern="1200" dirty="0"/>
        </a:p>
      </dsp:txBody>
      <dsp:txXfrm>
        <a:off x="1328564" y="2014351"/>
        <a:ext cx="1914871" cy="625450"/>
      </dsp:txXfrm>
    </dsp:sp>
    <dsp:sp modelId="{DA1DB39F-7051-47BF-B60E-E031EB5601D7}">
      <dsp:nvSpPr>
        <dsp:cNvPr id="0" name=""/>
        <dsp:cNvSpPr/>
      </dsp:nvSpPr>
      <dsp:spPr>
        <a:xfrm rot="5400000">
          <a:off x="2161430" y="2675870"/>
          <a:ext cx="249138" cy="2989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2196310" y="2700784"/>
        <a:ext cx="179379" cy="174397"/>
      </dsp:txXfrm>
    </dsp:sp>
    <dsp:sp modelId="{83AF32AE-A8FC-40C3-822D-4CD4B3344455}">
      <dsp:nvSpPr>
        <dsp:cNvPr id="0" name=""/>
        <dsp:cNvSpPr/>
      </dsp:nvSpPr>
      <dsp:spPr>
        <a:xfrm>
          <a:off x="1309105" y="2991445"/>
          <a:ext cx="1953789" cy="664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110004020202020204"/>
            </a:rPr>
            <a:t>Clinical Dashboard</a:t>
          </a:r>
        </a:p>
      </dsp:txBody>
      <dsp:txXfrm>
        <a:off x="1328564" y="3010904"/>
        <a:ext cx="1914871" cy="625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7D823-A1D8-6141-90C6-A6D991C942B1}">
      <dsp:nvSpPr>
        <dsp:cNvPr id="0" name=""/>
        <dsp:cNvSpPr/>
      </dsp:nvSpPr>
      <dsp:spPr>
        <a:xfrm>
          <a:off x="3131530" y="2149"/>
          <a:ext cx="186493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Initial Model</a:t>
          </a:r>
        </a:p>
      </dsp:txBody>
      <dsp:txXfrm>
        <a:off x="3150187" y="20806"/>
        <a:ext cx="1827624" cy="599670"/>
      </dsp:txXfrm>
    </dsp:sp>
    <dsp:sp modelId="{50DA9CC8-7B1D-924D-A760-B233C1D0BE8A}">
      <dsp:nvSpPr>
        <dsp:cNvPr id="0" name=""/>
        <dsp:cNvSpPr/>
      </dsp:nvSpPr>
      <dsp:spPr>
        <a:xfrm rot="5400000">
          <a:off x="3944565" y="655058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678945"/>
        <a:ext cx="171986" cy="167208"/>
      </dsp:txXfrm>
    </dsp:sp>
    <dsp:sp modelId="{90CC514E-F395-6D40-96CF-C35FCD975B69}">
      <dsp:nvSpPr>
        <dsp:cNvPr id="0" name=""/>
        <dsp:cNvSpPr/>
      </dsp:nvSpPr>
      <dsp:spPr>
        <a:xfrm>
          <a:off x="3131530" y="957626"/>
          <a:ext cx="186493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Current Errors</a:t>
          </a:r>
        </a:p>
      </dsp:txBody>
      <dsp:txXfrm>
        <a:off x="3150187" y="976283"/>
        <a:ext cx="1827624" cy="599670"/>
      </dsp:txXfrm>
    </dsp:sp>
    <dsp:sp modelId="{5A0B620C-AD8D-A94B-A675-38412CA3BB2A}">
      <dsp:nvSpPr>
        <dsp:cNvPr id="0" name=""/>
        <dsp:cNvSpPr/>
      </dsp:nvSpPr>
      <dsp:spPr>
        <a:xfrm rot="5400000">
          <a:off x="3944565" y="1610535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1634422"/>
        <a:ext cx="171986" cy="167208"/>
      </dsp:txXfrm>
    </dsp:sp>
    <dsp:sp modelId="{693469F4-C235-6F4D-A691-9D1FFAC49E8C}">
      <dsp:nvSpPr>
        <dsp:cNvPr id="0" name=""/>
        <dsp:cNvSpPr/>
      </dsp:nvSpPr>
      <dsp:spPr>
        <a:xfrm>
          <a:off x="3131530" y="1913102"/>
          <a:ext cx="186493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New Tree</a:t>
          </a:r>
        </a:p>
      </dsp:txBody>
      <dsp:txXfrm>
        <a:off x="3150187" y="1931759"/>
        <a:ext cx="1827624" cy="599670"/>
      </dsp:txXfrm>
    </dsp:sp>
    <dsp:sp modelId="{4D0D8CEC-C06A-5A4F-B535-E9848816E9F1}">
      <dsp:nvSpPr>
        <dsp:cNvPr id="0" name=""/>
        <dsp:cNvSpPr/>
      </dsp:nvSpPr>
      <dsp:spPr>
        <a:xfrm rot="2924280">
          <a:off x="4301718" y="2753221"/>
          <a:ext cx="691342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4533039" y="2561547"/>
        <a:ext cx="171986" cy="605349"/>
      </dsp:txXfrm>
    </dsp:sp>
    <dsp:sp modelId="{4DAA6EF1-5C53-3D47-97DF-9A3F8102DB8E}">
      <dsp:nvSpPr>
        <dsp:cNvPr id="0" name=""/>
        <dsp:cNvSpPr/>
      </dsp:nvSpPr>
      <dsp:spPr>
        <a:xfrm>
          <a:off x="4298310" y="3242999"/>
          <a:ext cx="186493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Improved Model</a:t>
          </a:r>
        </a:p>
      </dsp:txBody>
      <dsp:txXfrm>
        <a:off x="4316967" y="3261656"/>
        <a:ext cx="1827624" cy="599670"/>
      </dsp:txXfrm>
    </dsp:sp>
    <dsp:sp modelId="{DA00F8D1-E6A1-C145-AB9B-EA83C72EB70A}">
      <dsp:nvSpPr>
        <dsp:cNvPr id="0" name=""/>
        <dsp:cNvSpPr/>
      </dsp:nvSpPr>
      <dsp:spPr>
        <a:xfrm rot="10800000">
          <a:off x="3862533" y="3418169"/>
          <a:ext cx="373523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10800000">
        <a:off x="3948526" y="3475497"/>
        <a:ext cx="287530" cy="171986"/>
      </dsp:txXfrm>
    </dsp:sp>
    <dsp:sp modelId="{88621D3E-9314-9A44-A394-88CEB02C24C2}">
      <dsp:nvSpPr>
        <dsp:cNvPr id="0" name=""/>
        <dsp:cNvSpPr/>
      </dsp:nvSpPr>
      <dsp:spPr>
        <a:xfrm>
          <a:off x="1935340" y="3242999"/>
          <a:ext cx="186493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Remaining Errors</a:t>
          </a:r>
        </a:p>
      </dsp:txBody>
      <dsp:txXfrm>
        <a:off x="1953997" y="3261656"/>
        <a:ext cx="1827624" cy="599670"/>
      </dsp:txXfrm>
    </dsp:sp>
    <dsp:sp modelId="{85EB48AB-7E58-5D4D-AE59-1CAEEFCCF5DF}">
      <dsp:nvSpPr>
        <dsp:cNvPr id="0" name=""/>
        <dsp:cNvSpPr/>
      </dsp:nvSpPr>
      <dsp:spPr>
        <a:xfrm rot="18696997">
          <a:off x="3110003" y="2744912"/>
          <a:ext cx="711803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5400000">
        <a:off x="3351356" y="2607472"/>
        <a:ext cx="171986" cy="625810"/>
      </dsp:txXfrm>
    </dsp:sp>
    <dsp:sp modelId="{447CA68A-CCDE-AE46-9A07-251837F4D9F3}">
      <dsp:nvSpPr>
        <dsp:cNvPr id="0" name=""/>
        <dsp:cNvSpPr/>
      </dsp:nvSpPr>
      <dsp:spPr>
        <a:xfrm>
          <a:off x="3131530" y="1896484"/>
          <a:ext cx="186493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New Tree</a:t>
          </a:r>
        </a:p>
      </dsp:txBody>
      <dsp:txXfrm>
        <a:off x="3150187" y="1915141"/>
        <a:ext cx="1827624" cy="599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2ACB-96AB-9F1A-3DA9-E8E4FB2F8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D4D32-6E90-4D12-468F-2A65B0445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33801-F3F7-054F-BE65-9E5D04A1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1784E-6B13-D7A3-0C5F-918C6DA9B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B68A9-B5ED-A213-32E5-2513CD69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0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1B49-025B-FE14-CACE-AE883E2CE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A0A8F-DEF5-6321-632E-7D314CA8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236B2-3FA6-9927-7887-6128EFD99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A3C89-74A0-FF43-BC28-1DB173252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60B64-76BF-13E1-F8F5-FA151FC4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47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45E4-658C-2B00-AF88-ED541BCF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0A430-2755-723F-6C9F-0E14D650F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1B556-E7CB-72CB-246E-7F31A220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BA9D1-D018-DE0E-711A-8D6C73CF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08E1-E93F-5142-6CBF-44E5E67E4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1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E6A5-EA3A-9646-0F66-D6A0DB11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7C983-C3BF-60EB-578F-6E0BDBADC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8A9C3-8A49-D274-D121-7D6FB7E62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17D3D-6A89-CA0D-76A4-8E8644EBC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68E12-96CB-2689-82F3-5CEC79AA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EC7A8-4B95-09B0-C5B1-2F496C4D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2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9480-83B0-E17F-EDB0-21E017742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C33A9-DD07-9391-5F9C-6DAB105DD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AB712-7AFA-E0F9-24ED-AC212F839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3E9EC-D3AF-FDCE-0D4B-E8ECA127C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82F2D-714A-05F9-D57A-AE0A6D5955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0E055E-6582-9CA1-33A7-0A9E0CD9B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65E85-3DA3-2B96-9001-7C711F31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C1355-BE55-92C1-516F-AEF4C82C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9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F537-43A9-C7C4-2FF0-579DA498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9134B-5BEC-EE92-C5F2-F3AD1EAA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3EB76-796C-7F16-4364-110B0D55E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3589B-941D-4820-F67F-5D541ADC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9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C288B-2E00-A2EF-456B-518CA1670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01AA8-96C2-6BCE-0AF7-0C63281F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F63E0-177B-7582-F6A2-D61E2C93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9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D642-060F-FA4C-9AEA-C4E917C7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131A-022F-7DE9-B9BD-D0D88BABE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6B9EB-1D6E-7984-2932-963226B22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0E272-B763-B557-C634-CC7140B8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FFA57-1BC6-5333-792D-380ACF93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F2849-4054-2E1C-4F69-558248ED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2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4BF0-8CA0-D56A-4A87-9A561AFA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95ED4-AEA4-C5E5-530C-E4242395CED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AD636-FB6B-992B-9630-ED26920D0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9362B-63E5-5BD2-41E4-238BD63F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B6C0E-78DA-D9B0-933B-ADFB2B9A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775E1-C3EF-DCC2-B1E1-21BD0C515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08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CCDE-4230-4736-9765-2FE19F45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46D71-1BCB-748D-53E3-D6E976D87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828D-5BA3-B791-8662-637C8F8D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1F175-8404-C991-874C-6F8C6ED3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5A7D1-BFE1-DD36-1103-7B941FD8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1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D6D535-51BA-E0EC-1430-5B3F72853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60884-D57E-2ACC-EDAA-3A7A9AC4E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3CF5D-DB04-C13D-41A2-C7D5036FE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E70B-1101-B079-23CD-7FE95A82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5092E-DB7E-E264-9AB9-1257876B0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9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DA4E2-E106-8A9C-ABF1-4D0F0824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1AC63-261A-341B-E268-9AB1EDA61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FB9D-5003-95ED-6A98-2663793DA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ECE55-8FB4-5645-9F3F-805E1B356A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E0626-0DE5-D968-B08F-E5FE7D28C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DBD0E-AC48-5A59-9A51-A5A70F44E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72907-9F49-084E-9DD4-C548C428B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9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A648BEE-4010-7AC2-F7A2-D1569A1F30D6}"/>
              </a:ext>
            </a:extLst>
          </p:cNvPr>
          <p:cNvGrpSpPr/>
          <p:nvPr/>
        </p:nvGrpSpPr>
        <p:grpSpPr>
          <a:xfrm>
            <a:off x="1" y="0"/>
            <a:ext cx="12188760" cy="6859822"/>
            <a:chOff x="3239" y="0"/>
            <a:chExt cx="12185522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08CA80-5224-20E6-3D97-A831A0657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883E267-AED8-3745-6B71-DCC006E6F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982" y="3610598"/>
              <a:ext cx="1780374" cy="178037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DE83F46-9536-5A93-8C44-72FA1D0EC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0928" y="3625553"/>
              <a:ext cx="1764706" cy="1764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924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C27A-B4E1-1000-6563-3FCC88763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Idea: Multi-Model Clinical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F7B08-F752-687F-4D1E-290954F70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83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Build specialized ML models using MIMIC-IV and </a:t>
            </a:r>
            <a:r>
              <a:rPr lang="en-US" dirty="0" err="1"/>
              <a:t>eICU</a:t>
            </a:r>
          </a:p>
          <a:p>
            <a:pPr marL="0" indent="0">
              <a:buNone/>
            </a:pPr>
            <a:r>
              <a:rPr lang="en-US" dirty="0"/>
              <a:t>Each model predicts a different clinical risk</a:t>
            </a:r>
          </a:p>
          <a:p>
            <a:pPr marL="0" indent="0">
              <a:buNone/>
            </a:pPr>
            <a:r>
              <a:rPr lang="en-US" dirty="0"/>
              <a:t>Combine all model predictions into one clinical facing system</a:t>
            </a:r>
          </a:p>
          <a:p>
            <a:pPr marL="0" indent="0">
              <a:buNone/>
            </a:pPr>
            <a:r>
              <a:rPr lang="en-US" dirty="0"/>
              <a:t>Example Models:</a:t>
            </a:r>
          </a:p>
          <a:p>
            <a:pPr marL="0" indent="0">
              <a:buNone/>
            </a:pPr>
            <a:r>
              <a:rPr lang="en-US" dirty="0"/>
              <a:t>Sepsis Risk, Acute Kidney Failure, SOFA score, LOS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3C68231-5DB3-5DC4-033B-02B4AE4179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585264"/>
              </p:ext>
            </p:extLst>
          </p:nvPr>
        </p:nvGraphicFramePr>
        <p:xfrm>
          <a:off x="8273143" y="1715105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688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D079-411C-2C74-D9E2-432F7BE0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Specialized Models +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E89F-94F1-A321-9506-853F7C3B6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29" y="1607911"/>
            <a:ext cx="11156647" cy="472629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Each Model focuses on a specific prediction task: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The LLM receives:</a:t>
            </a:r>
            <a:endParaRPr lang="en-US"/>
          </a:p>
          <a:p>
            <a:pPr marL="971550" lvl="1" indent="-285750">
              <a:buFont typeface="Courier New,monospace"/>
              <a:buChar char="o"/>
            </a:pPr>
            <a:r>
              <a:rPr lang="en-US" dirty="0"/>
              <a:t>Risk predictions </a:t>
            </a:r>
          </a:p>
          <a:p>
            <a:pPr marL="971550" lvl="1" indent="-285750">
              <a:buFont typeface="Courier New,monospace"/>
              <a:buChar char="o"/>
            </a:pPr>
            <a:r>
              <a:rPr lang="en-US" dirty="0"/>
              <a:t>Risk probabilities </a:t>
            </a:r>
          </a:p>
          <a:p>
            <a:pPr marL="971550" lvl="1" indent="-285750">
              <a:buFont typeface="Courier New,monospace"/>
              <a:buChar char="o"/>
            </a:pPr>
            <a:r>
              <a:rPr lang="en-US" dirty="0"/>
              <a:t>Important contributing factors </a:t>
            </a:r>
          </a:p>
          <a:p>
            <a:pPr marL="971550" lvl="1" indent="-285750">
              <a:buFont typeface="Courier New,monospace"/>
              <a:buChar char="o"/>
            </a:pPr>
            <a:r>
              <a:rPr lang="en-US" dirty="0"/>
              <a:t>Patient trends </a:t>
            </a:r>
          </a:p>
          <a:p>
            <a:pPr marL="971550" lvl="1" indent="-285750">
              <a:buFont typeface="Courier New,monospace"/>
              <a:buChar char="o"/>
            </a:pPr>
            <a:r>
              <a:rPr lang="en-US" dirty="0"/>
              <a:t>Predicted length of stay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LLM Output</a:t>
            </a:r>
            <a:endParaRPr lang="en-US" dirty="0"/>
          </a:p>
          <a:p>
            <a:pPr lvl="1" indent="-285750">
              <a:buFont typeface="Courier New,monospace"/>
              <a:buChar char="o"/>
            </a:pPr>
            <a:r>
              <a:rPr lang="en-US" dirty="0">
                <a:ea typeface="+mn-lt"/>
                <a:cs typeface="+mn-lt"/>
              </a:rPr>
              <a:t>High / Moderate / Low severity </a:t>
            </a:r>
            <a:endParaRPr lang="en-US"/>
          </a:p>
          <a:p>
            <a:pPr lvl="1" indent="-285750">
              <a:buFont typeface="Courier New,monospace"/>
              <a:buChar char="o"/>
            </a:pPr>
            <a:r>
              <a:rPr lang="en-US" dirty="0">
                <a:ea typeface="+mn-lt"/>
                <a:cs typeface="+mn-lt"/>
              </a:rPr>
              <a:t>Explanation of major concerns </a:t>
            </a:r>
            <a:endParaRPr lang="en-US"/>
          </a:p>
          <a:p>
            <a:pPr lvl="1" indent="-285750">
              <a:buFont typeface="Courier New,monospace"/>
              <a:buChar char="o"/>
            </a:pPr>
            <a:r>
              <a:rPr lang="en-US" dirty="0">
                <a:ea typeface="+mn-lt"/>
                <a:cs typeface="+mn-lt"/>
              </a:rPr>
              <a:t>Structured clinician-facing summary </a:t>
            </a:r>
            <a:endParaRPr lang="en-US"/>
          </a:p>
          <a:p>
            <a:pPr lvl="1" indent="-285750">
              <a:buFont typeface="Courier New,monospace"/>
              <a:buChar char="o"/>
            </a:pPr>
            <a:r>
              <a:rPr lang="en-US" dirty="0">
                <a:ea typeface="+mn-lt"/>
                <a:cs typeface="+mn-lt"/>
              </a:rPr>
              <a:t>Time-based outlook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81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03C0-6479-A8A8-C0A1-133ADBFA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Time-Based Patient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E2252-FED9-559F-150B-4DF225AB9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676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The Dashboard would organize clinical recommendations and considerations by time:</a:t>
            </a:r>
          </a:p>
          <a:p>
            <a:pPr marL="457200" lvl="1" indent="0">
              <a:buNone/>
            </a:pPr>
            <a:r>
              <a:rPr lang="en-US" b="1" dirty="0">
                <a:ea typeface="+mn-lt"/>
                <a:cs typeface="+mn-lt"/>
              </a:rPr>
              <a:t>Now</a:t>
            </a:r>
            <a:r>
              <a:rPr lang="en-US" dirty="0">
                <a:ea typeface="+mn-lt"/>
                <a:cs typeface="+mn-lt"/>
              </a:rPr>
              <a:t> → Current highest-priority concerns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Within 1 Hour</a:t>
            </a:r>
            <a:r>
              <a:rPr lang="en-US" dirty="0">
                <a:ea typeface="+mn-lt"/>
                <a:cs typeface="+mn-lt"/>
              </a:rPr>
              <a:t> → Immediate considerations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Within 6 Hours</a:t>
            </a:r>
            <a:r>
              <a:rPr lang="en-US" dirty="0">
                <a:ea typeface="+mn-lt"/>
                <a:cs typeface="+mn-lt"/>
              </a:rPr>
              <a:t> → Near-term predicted risks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Within 24 Hours</a:t>
            </a:r>
            <a:r>
              <a:rPr lang="en-US" dirty="0">
                <a:ea typeface="+mn-lt"/>
                <a:cs typeface="+mn-lt"/>
              </a:rPr>
              <a:t> → Expected clinical trajectory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Within 48 Hours</a:t>
            </a:r>
            <a:r>
              <a:rPr lang="en-US" dirty="0">
                <a:ea typeface="+mn-lt"/>
                <a:cs typeface="+mn-lt"/>
              </a:rPr>
              <a:t> → Longer-term predicted trajectory</a:t>
            </a:r>
          </a:p>
          <a:p>
            <a:pPr>
              <a:buNone/>
            </a:pPr>
            <a:r>
              <a:rPr lang="en-US" dirty="0"/>
              <a:t>Length-of-Stay Logic:</a:t>
            </a:r>
          </a:p>
          <a:p>
            <a:pPr lvl="1">
              <a:buNone/>
            </a:pPr>
            <a:r>
              <a:rPr lang="en-US" dirty="0">
                <a:ea typeface="+mn-lt"/>
                <a:cs typeface="+mn-lt"/>
              </a:rPr>
              <a:t>The timeline stops at the patient's predicted discharge.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2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92C3-83BB-86CF-E0EF-5BD70FD7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A4FA-8C54-EA9D-04A2-583012B60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91" y="1462768"/>
            <a:ext cx="11011504" cy="494400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First Step: Literature Review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Review existing clinical prediction models 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Review multi-model decision-support systems 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Review LLM clinical summarization research 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Identify gaps in current research </a:t>
            </a:r>
            <a:endParaRPr lang="en-US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Define specific research questions </a:t>
            </a:r>
            <a:endParaRPr lang="en-US"/>
          </a:p>
          <a:p>
            <a:pPr marL="40005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Possible Research Questions</a:t>
            </a:r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Can an LLM effectively combine outputs from multiple specialized clinical models? 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Does combining specialized models provide more useful patient-risk summaries than a single model? 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Can models developed with </a:t>
            </a:r>
            <a:r>
              <a:rPr lang="en-US" b="1" dirty="0">
                <a:ea typeface="+mn-lt"/>
                <a:cs typeface="+mn-lt"/>
              </a:rPr>
              <a:t>MIMIC-IV</a:t>
            </a:r>
            <a:r>
              <a:rPr lang="en-US" dirty="0">
                <a:ea typeface="+mn-lt"/>
                <a:cs typeface="+mn-lt"/>
              </a:rPr>
              <a:t> generalize to </a:t>
            </a:r>
            <a:r>
              <a:rPr lang="en-US" b="1" dirty="0" err="1">
                <a:ea typeface="+mn-lt"/>
                <a:cs typeface="+mn-lt"/>
              </a:rPr>
              <a:t>eICU</a:t>
            </a:r>
            <a:r>
              <a:rPr lang="en-US" dirty="0">
                <a:ea typeface="+mn-lt"/>
                <a:cs typeface="+mn-lt"/>
              </a:rPr>
              <a:t>? 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Can an LOS-aware timeline produce more relevant clinical decision support? 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252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81E2-0C06-776B-5601-8EBDC10E83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Decision Trees, Random Forests, </a:t>
            </a: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55E3F-EE5B-147E-15BC-C6FFDD16EE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Tree-Based Machine Learning</a:t>
            </a:r>
          </a:p>
          <a:p>
            <a:r>
              <a:rPr lang="en-US" dirty="0"/>
              <a:t>Todays Question: Can patient data help us identify patients at increased risk of sepsis. </a:t>
            </a:r>
          </a:p>
          <a:p>
            <a:r>
              <a:rPr lang="en-US" dirty="0"/>
              <a:t>Created by Caden Wondell</a:t>
            </a:r>
          </a:p>
        </p:txBody>
      </p:sp>
    </p:spTree>
    <p:extLst>
      <p:ext uri="{BB962C8B-B14F-4D97-AF65-F5344CB8AC3E}">
        <p14:creationId xmlns:p14="http://schemas.microsoft.com/office/powerpoint/2010/main" val="188353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69CD-5E1C-206F-CC15-48C5A6C49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Tree-Based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B379-BEB8-7511-682A-8C74E67BF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101"/>
            <a:ext cx="10515600" cy="4830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Tree-based models make predictions by repeatedly asking questions about the features in the data.</a:t>
            </a:r>
          </a:p>
          <a:p>
            <a:pPr marL="0" indent="0">
              <a:buNone/>
            </a:pPr>
            <a:r>
              <a:rPr lang="en-US" dirty="0"/>
              <a:t>Each decision divides the data into smaller groups until the model reaches a prediction. </a:t>
            </a:r>
          </a:p>
          <a:p>
            <a:pPr marL="0" indent="0">
              <a:buNone/>
            </a:pPr>
            <a:r>
              <a:rPr lang="en-US" dirty="0"/>
              <a:t>Tree Models can solve:</a:t>
            </a:r>
          </a:p>
          <a:p>
            <a:pPr lvl="1"/>
            <a:r>
              <a:rPr lang="en-US" dirty="0"/>
              <a:t>Classification</a:t>
            </a:r>
          </a:p>
          <a:p>
            <a:pPr lvl="2"/>
            <a:r>
              <a:rPr lang="en-US" dirty="0"/>
              <a:t>Sepsis / Not Sepsis</a:t>
            </a:r>
          </a:p>
          <a:p>
            <a:pPr lvl="2"/>
            <a:r>
              <a:rPr lang="en-US" dirty="0"/>
              <a:t>Disease / Not Disease</a:t>
            </a:r>
          </a:p>
          <a:p>
            <a:pPr lvl="1"/>
            <a:r>
              <a:rPr lang="en-US" dirty="0"/>
              <a:t>Regression</a:t>
            </a:r>
          </a:p>
          <a:p>
            <a:pPr lvl="2"/>
            <a:r>
              <a:rPr lang="en-US" dirty="0"/>
              <a:t>Length of hospital stay</a:t>
            </a:r>
          </a:p>
          <a:p>
            <a:pPr lvl="2"/>
            <a:r>
              <a:rPr lang="en-US" dirty="0"/>
              <a:t>Recovery time</a:t>
            </a:r>
          </a:p>
        </p:txBody>
      </p:sp>
    </p:spTree>
    <p:extLst>
      <p:ext uri="{BB962C8B-B14F-4D97-AF65-F5344CB8AC3E}">
        <p14:creationId xmlns:p14="http://schemas.microsoft.com/office/powerpoint/2010/main" val="173970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C0C2F-C00F-5FBF-6C60-92B0CC57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Example Medical Problem: Sepsis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55A0-3D6B-817A-A601-040B8BF10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use patient data to predict a Sepsis label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1E492D-68AF-554E-BA0A-CE7B6224C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672754"/>
              </p:ext>
            </p:extLst>
          </p:nvPr>
        </p:nvGraphicFramePr>
        <p:xfrm>
          <a:off x="2032000" y="2440889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041625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7921802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Features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96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Heart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Lactate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650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Creatinine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949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MAP (Mean Arterial Pressure)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4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Respiratory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670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O2 Saturation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931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WBC (White Blood Cell Count)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of Stay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167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619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53C8-56E6-5359-8ADD-233039294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4C3CF-E4F5-6D15-92B6-1B4FEE556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29" y="1690688"/>
            <a:ext cx="5369860" cy="46708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Decision Tree makes a prediction by following a sequence of rules.</a:t>
            </a:r>
          </a:p>
          <a:p>
            <a:pPr marL="0" indent="0">
              <a:buNone/>
            </a:pPr>
            <a:r>
              <a:rPr lang="en-US" dirty="0"/>
              <a:t>Parts of a Decision Tree</a:t>
            </a:r>
          </a:p>
          <a:p>
            <a:pPr lvl="1"/>
            <a:r>
              <a:rPr lang="en-US" dirty="0"/>
              <a:t>Root Node: The first decision made by the model	</a:t>
            </a:r>
          </a:p>
          <a:p>
            <a:pPr lvl="1"/>
            <a:r>
              <a:rPr lang="en-US" dirty="0"/>
              <a:t>Decision Node: A question about one of the features</a:t>
            </a:r>
          </a:p>
          <a:p>
            <a:pPr lvl="1"/>
            <a:r>
              <a:rPr lang="en-US" dirty="0"/>
              <a:t>Branch: The result of a decision</a:t>
            </a:r>
          </a:p>
          <a:p>
            <a:pPr lvl="1"/>
            <a:r>
              <a:rPr lang="en-US" dirty="0"/>
              <a:t>Leaf Node: the final prediction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4DF0B-0894-0546-EFA6-4CD6BCDB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18" y="1506072"/>
            <a:ext cx="6047938" cy="453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76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3A9BF-2814-CA7F-3993-60AE55F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Tree Learn?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254FA-6E38-671A-CCA9-4E894D16B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How does a decision tree choose a split?</a:t>
                </a:r>
              </a:p>
              <a:p>
                <a:pPr marL="0" indent="0">
                  <a:buNone/>
                </a:pPr>
                <a:r>
                  <a:rPr lang="en-US" dirty="0"/>
                  <a:t>The model tries different </a:t>
                </a:r>
                <a:r>
                  <a:rPr lang="en-US" b="1" dirty="0"/>
                  <a:t>Features</a:t>
                </a:r>
                <a:r>
                  <a:rPr lang="en-US" dirty="0"/>
                  <a:t> and </a:t>
                </a:r>
                <a:r>
                  <a:rPr lang="en-US" b="1" dirty="0"/>
                  <a:t>Thresholds</a:t>
                </a:r>
                <a:r>
                  <a:rPr lang="en-US" dirty="0"/>
                  <a:t> and searches for a split that creates groups containing similar outcomes.</a:t>
                </a:r>
              </a:p>
              <a:p>
                <a:pPr marL="0" indent="0">
                  <a:buNone/>
                </a:pPr>
                <a:r>
                  <a:rPr lang="en-US" dirty="0"/>
                  <a:t>Gini Impurity: measures how mixed the classes are </a:t>
                </a:r>
                <a:endParaRPr lang="en-US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>
                          <a:latin typeface="Cambria Math" panose="02040503050406030204" pitchFamily="18" charset="0"/>
                        </a:rPr>
                        <m:t>Gini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proportion of samples in class I</a:t>
                </a:r>
              </a:p>
              <a:p>
                <a:pPr marL="0" indent="0">
                  <a:buNone/>
                </a:pPr>
                <a:r>
                  <a:rPr lang="en-US" dirty="0"/>
                  <a:t>Lower Gini = purer group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254FA-6E38-671A-CCA9-4E894D16B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6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8347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C1446-7944-BA08-8B19-AA38D48E7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Gini Impurity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A06E5-616E-2FCF-BD17-1976420E16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Suppose a node contains 10 patients: 5 Sepsis, 5 No Sepsis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000" i="0" dirty="0" smtClean="0">
                        <a:latin typeface="Cambria Math" panose="02040503050406030204" pitchFamily="18" charset="0"/>
                      </a:rPr>
                      <m:t>Gini</m:t>
                    </m:r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Sup>
                          <m:sSubSup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000" dirty="0">
                        <a:latin typeface="Cambria Math" panose="02040503050406030204" pitchFamily="18" charset="0"/>
                      </a:rPr>
                      <m:t>	</m:t>
                    </m:r>
                    <m:r>
                      <m:rPr>
                        <m:nor/>
                      </m:rPr>
                      <a:rPr lang="en-US" sz="3000" b="0" i="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d>
                      </m:e>
                      <m:sup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</m:d>
                      </m:e>
                      <m:sup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0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000" i="0" dirty="0" smtClean="0">
                        <a:latin typeface="Cambria Math" panose="02040503050406030204" pitchFamily="18" charset="0"/>
                      </a:rPr>
                      <m:t>Gini</m:t>
                    </m:r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endParaRPr lang="en-US" sz="3000" dirty="0"/>
              </a:p>
              <a:p>
                <a:pPr marL="0" indent="0" algn="ctr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:r>
                  <a:rPr lang="en-US" sz="3000" dirty="0"/>
                  <a:t>Suppose a different node contains: 1 Sepsis, 9 No Sepsis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3000" i="0" dirty="0" smtClean="0">
                        <a:latin typeface="Cambria Math" panose="02040503050406030204" pitchFamily="18" charset="0"/>
                      </a:rPr>
                      <m:t>Gini</m:t>
                    </m:r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Sup>
                          <m:sSubSup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nor/>
                      </m:rPr>
                      <a:rPr lang="en-US" sz="3000" dirty="0"/>
                      <m:t> </m:t>
                    </m:r>
                    <m:r>
                      <m:rPr>
                        <m:nor/>
                      </m:rPr>
                      <a:rPr lang="en-US" sz="3000" b="0" i="0" dirty="0" smtClean="0"/>
                      <m:t>  </m:t>
                    </m:r>
                    <m:r>
                      <m:rPr>
                        <m:nor/>
                      </m:rPr>
                      <a:rPr lang="en-US" sz="3000" i="0" dirty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e>
                        </m:d>
                      </m:e>
                      <m:sup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3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i="0" dirty="0" smtClean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</m:d>
                      </m:e>
                      <m:sup>
                        <m:r>
                          <a:rPr lang="en-US" sz="30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000" dirty="0"/>
                  <a:t>    </a:t>
                </a:r>
                <a14:m>
                  <m:oMath xmlns:m="http://schemas.openxmlformats.org/officeDocument/2006/math"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𝐺𝑖𝑛𝑖</m:t>
                    </m:r>
                    <m:r>
                      <a:rPr lang="en-US" sz="3000" i="0" dirty="0" smtClean="0">
                        <a:latin typeface="Cambria Math" panose="02040503050406030204" pitchFamily="18" charset="0"/>
                      </a:rPr>
                      <m:t>=0.18</m:t>
                    </m:r>
                  </m:oMath>
                </a14:m>
                <a:endParaRPr lang="en-US" sz="3000" dirty="0"/>
              </a:p>
              <a:p>
                <a:pPr algn="ctr"/>
                <a:endParaRPr lang="en-US" sz="1000" dirty="0"/>
              </a:p>
              <a:p>
                <a:pPr marL="0" indent="0" algn="ctr">
                  <a:buNone/>
                </a:pPr>
                <a:r>
                  <a:rPr lang="en-US" sz="3000" dirty="0"/>
                  <a:t>Remember Lower Gini = Purer</a:t>
                </a:r>
              </a:p>
              <a:p>
                <a:pPr marL="0" indent="0" algn="ctr">
                  <a:buNone/>
                </a:pPr>
                <a:r>
                  <a:rPr lang="en-US" sz="3000" dirty="0"/>
                  <a:t>The Decision Tree searches for splits that reduce impurity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6A06E5-616E-2FCF-BD17-1976420E16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0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3CE912-41A5-2438-BE10-9E2D7DA0C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859" b="18155"/>
          <a:stretch>
            <a:fillRect/>
          </a:stretch>
        </p:blipFill>
        <p:spPr>
          <a:xfrm>
            <a:off x="215176" y="150606"/>
            <a:ext cx="11716052" cy="658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73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581704-AE98-C401-E25E-3CCAD282A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94" y="2818107"/>
            <a:ext cx="3654519" cy="3409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72F6D-79F8-B4EE-A181-2CE85695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970" y="1569421"/>
            <a:ext cx="5461000" cy="4622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E06519-33A1-6DF8-BFF3-706B4C2AA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58"/>
            <a:ext cx="10515600" cy="1325563"/>
          </a:xfrm>
        </p:spPr>
        <p:txBody>
          <a:bodyPr/>
          <a:lstStyle/>
          <a:p>
            <a:r>
              <a:rPr lang="en-US" dirty="0"/>
              <a:t>The Problem With Decision Trees: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FCB13-AA48-47BA-CF74-3D5B9E8AB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736"/>
            <a:ext cx="6745941" cy="1839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Decision Tree can become so complex that it begins to learn patterns specific to the training data instead of patterns that generalize to new test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1FB2F4-E582-E67E-669D-7BF1C0A71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003" y="6227505"/>
            <a:ext cx="2273300" cy="393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83B955-3163-E6A8-6E76-840D3F57C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4141" y="6176532"/>
            <a:ext cx="32258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8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BFC8-AD1D-ADE6-0546-A3C148E1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992"/>
            <a:ext cx="10515600" cy="1325563"/>
          </a:xfrm>
        </p:spPr>
        <p:txBody>
          <a:bodyPr/>
          <a:lstStyle/>
          <a:p>
            <a:r>
              <a:rPr lang="en-US" dirty="0"/>
              <a:t>From One Tree to a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1356-D9F6-272D-F326-775FE52A8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555"/>
            <a:ext cx="10515600" cy="4692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if we train many trees?</a:t>
            </a:r>
          </a:p>
          <a:p>
            <a:pPr marL="0" indent="0">
              <a:buNone/>
            </a:pPr>
            <a:r>
              <a:rPr lang="en-US" dirty="0"/>
              <a:t>Random Forest: trains many different Decision Trees and combines their predictions.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Tree 1 → Sepsis</a:t>
            </a:r>
          </a:p>
          <a:p>
            <a:pPr marL="457200" lvl="1" indent="0">
              <a:buNone/>
            </a:pPr>
            <a:r>
              <a:rPr lang="en-US" dirty="0"/>
              <a:t>Tree 2 → Sepsis				Majority Vote:</a:t>
            </a:r>
          </a:p>
          <a:p>
            <a:pPr marL="457200" lvl="1" indent="0">
              <a:buNone/>
            </a:pPr>
            <a:r>
              <a:rPr lang="en-US" dirty="0"/>
              <a:t>Tree 3 → No Sepsis			3 Sepsis &gt; 2 No Sepsis</a:t>
            </a:r>
          </a:p>
          <a:p>
            <a:pPr marL="457200" lvl="1" indent="0">
              <a:buNone/>
            </a:pPr>
            <a:r>
              <a:rPr lang="en-US" dirty="0"/>
              <a:t>Tree 4 → Sepsis</a:t>
            </a:r>
          </a:p>
          <a:p>
            <a:pPr marL="457200" lvl="1" indent="0">
              <a:buNone/>
            </a:pPr>
            <a:r>
              <a:rPr lang="en-US" dirty="0"/>
              <a:t>Tree 5 → No Sepsis</a:t>
            </a:r>
          </a:p>
          <a:p>
            <a:pPr marL="0" indent="0">
              <a:buNone/>
            </a:pPr>
            <a:r>
              <a:rPr lang="en-US" dirty="0"/>
              <a:t>Final Predication = Sepsis</a:t>
            </a:r>
          </a:p>
        </p:txBody>
      </p:sp>
    </p:spTree>
    <p:extLst>
      <p:ext uri="{BB962C8B-B14F-4D97-AF65-F5344CB8AC3E}">
        <p14:creationId xmlns:p14="http://schemas.microsoft.com/office/powerpoint/2010/main" val="3727190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7FEC7-D89A-84F2-65D5-44AAF60F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Random Forest Creates Different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9A466-A35A-594E-E08A-6ADC38EC6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616"/>
            <a:ext cx="10515600" cy="483018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Random Training Samples</a:t>
            </a:r>
          </a:p>
          <a:p>
            <a:pPr marL="457200" lvl="1" indent="0">
              <a:buNone/>
            </a:pPr>
            <a:r>
              <a:rPr lang="en-US" dirty="0"/>
              <a:t>Each Tree is trained using a random sample of the training data.</a:t>
            </a:r>
          </a:p>
          <a:p>
            <a:pPr marL="457200" lvl="1" indent="0">
              <a:buNone/>
            </a:pPr>
            <a:r>
              <a:rPr lang="en-US" dirty="0"/>
              <a:t>This is called Bootstrap Sampling, its Aggregate is called Bagging</a:t>
            </a:r>
          </a:p>
          <a:p>
            <a:pPr marL="457200" lvl="1" indent="0">
              <a:buNone/>
            </a:pPr>
            <a:endParaRPr lang="en-US" sz="100" dirty="0"/>
          </a:p>
          <a:p>
            <a:pPr marL="457200" lvl="1" indent="0">
              <a:buNone/>
            </a:pPr>
            <a:r>
              <a:rPr lang="en-US" dirty="0"/>
              <a:t>	Original: A B C D			Bootstrap sample: ACCA</a:t>
            </a:r>
          </a:p>
          <a:p>
            <a:pPr marL="514350" indent="-514350">
              <a:buAutoNum type="arabicPeriod"/>
            </a:pPr>
            <a:r>
              <a:rPr lang="en-US" dirty="0"/>
              <a:t>Random Feature Selection</a:t>
            </a:r>
          </a:p>
          <a:p>
            <a:pPr marL="457200" lvl="1" indent="0">
              <a:buNone/>
            </a:pPr>
            <a:r>
              <a:rPr lang="en-US" dirty="0"/>
              <a:t>At each split, the tree considers only a random subset of the available features.</a:t>
            </a:r>
          </a:p>
          <a:p>
            <a:pPr marL="457200" lvl="1" indent="0">
              <a:buNone/>
            </a:pPr>
            <a:r>
              <a:rPr lang="en-US" dirty="0"/>
              <a:t>Tree 1 emphasizes: Heart Rate + MAP</a:t>
            </a:r>
          </a:p>
          <a:p>
            <a:pPr marL="457200" lvl="1" indent="0">
              <a:buNone/>
            </a:pPr>
            <a:r>
              <a:rPr lang="en-US" dirty="0"/>
              <a:t>Tree 2 emphasizes: WBC + Temperature</a:t>
            </a:r>
          </a:p>
          <a:p>
            <a:pPr marL="0" indent="0">
              <a:buNone/>
            </a:pPr>
            <a:r>
              <a:rPr lang="en-US" dirty="0"/>
              <a:t>Random Forest = Bagging + Random 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3609037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890E-0397-52F7-FF06-49DBB2948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Boosting?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A7FA-35B5-8A79-25E3-5966FC9A3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398" y="1690688"/>
            <a:ext cx="773474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Random Forest builds trees that are largely independent </a:t>
            </a:r>
          </a:p>
          <a:p>
            <a:pPr marL="0" indent="0">
              <a:buNone/>
            </a:pPr>
            <a:r>
              <a:rPr lang="en-US" dirty="0"/>
              <a:t>Boosting builds models sequentially so each new model improves the predictions made so far.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Radom Forest: Many Independent Trees</a:t>
            </a:r>
          </a:p>
          <a:p>
            <a:pPr marL="0" indent="0">
              <a:buNone/>
            </a:pPr>
            <a:r>
              <a:rPr lang="en-US" dirty="0"/>
              <a:t>Boosting: Sequential trees that improve the current model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3A510B-B454-5A69-D246-873DB7E0AB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690393"/>
              </p:ext>
            </p:extLst>
          </p:nvPr>
        </p:nvGraphicFramePr>
        <p:xfrm>
          <a:off x="5555428" y="62335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7560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86FD-1BB4-ECE4-8EF9-08DF33B1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: Extreme Gradient Boosting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C634E-F5AA-D0C4-01E5-8F613346B0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1374"/>
                <a:ext cx="10515600" cy="459558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err="1"/>
                  <a:t>XGBoost</a:t>
                </a:r>
                <a:r>
                  <a:rPr lang="en-US" dirty="0"/>
                  <a:t> is an optimized implementation of gradient boosting</a:t>
                </a:r>
              </a:p>
              <a:p>
                <a:pPr marL="0" indent="0">
                  <a:buNone/>
                </a:pPr>
                <a:r>
                  <a:rPr lang="en-US" dirty="0"/>
                  <a:t>It builds Decision Trees sequentially</a:t>
                </a:r>
              </a:p>
              <a:p>
                <a:pPr marL="0" indent="0">
                  <a:buNone/>
                </a:pPr>
                <a:r>
                  <a:rPr lang="en-US" dirty="0"/>
                  <a:t>Each new tree contributes an improvement to the current model</a:t>
                </a:r>
              </a:p>
              <a:p>
                <a:pPr lvl="1"/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current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model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tree</m:t>
                            </m:r>
                          </m:e>
                        </m:mr>
                        <m:mr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learning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rate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e>
                            <m: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updated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i="0" dirty="0" smtClean="0">
                                <a:latin typeface="Cambria Math" panose="02040503050406030204" pitchFamily="18" charset="0"/>
                              </a:rPr>
                              <m:t>model</m:t>
                            </m:r>
                          </m:e>
                        </m:mr>
                      </m:m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C634E-F5AA-D0C4-01E5-8F613346B0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1374"/>
                <a:ext cx="10515600" cy="4595589"/>
              </a:xfrm>
              <a:blipFill>
                <a:blip r:embed="rId2"/>
                <a:stretch>
                  <a:fillRect l="-1206" t="-2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445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B02C-2263-E01F-A86E-CB6E37F8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942454-AE6A-F2AF-F55B-BBEB7B7FF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6372" y="1690688"/>
                <a:ext cx="11155680" cy="448627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600" dirty="0"/>
                  <a:t>Suppose the model currently gives a patient prediction score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600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=0.40</m:t>
                    </m:r>
                  </m:oMath>
                </a14:m>
                <a:endParaRPr lang="en-US" sz="26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600" dirty="0"/>
                  <a:t>The next tree determines the prediction should be increased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600" i="0" dirty="0" smtClean="0">
                        <a:latin typeface="Cambria Math" panose="02040503050406030204" pitchFamily="18" charset="0"/>
                      </a:rPr>
                      <m:t>=0.30</m:t>
                    </m:r>
                  </m:oMath>
                </a14:m>
                <a:endParaRPr lang="en-US" sz="26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600" dirty="0"/>
                  <a:t>But our learning rate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sz="2600" dirty="0"/>
                  <a:t>= 0.10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600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600" i="1" dirty="0">
                          <a:latin typeface="Cambria Math" panose="02040503050406030204" pitchFamily="18" charset="0"/>
                        </a:rPr>
                        <m:t>𝜂</m:t>
                      </m:r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i="0" dirty="0">
                          <a:latin typeface="Cambria Math" panose="02040503050406030204" pitchFamily="18" charset="0"/>
                        </a:rPr>
                        <m:t>=0.40+</m:t>
                      </m:r>
                      <m:d>
                        <m:d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0" dirty="0">
                              <a:latin typeface="Cambria Math" panose="02040503050406030204" pitchFamily="18" charset="0"/>
                            </a:rPr>
                            <m:t>0.10</m:t>
                          </m:r>
                        </m:e>
                      </m:d>
                      <m:d>
                        <m:d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0" dirty="0">
                              <a:latin typeface="Cambria Math" panose="02040503050406030204" pitchFamily="18" charset="0"/>
                            </a:rPr>
                            <m:t>0.30</m:t>
                          </m:r>
                        </m:e>
                      </m:d>
                    </m:oMath>
                  </m:oMathPara>
                </a14:m>
                <a:endParaRPr lang="en-US" sz="2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600" i="0" dirty="0">
                          <a:latin typeface="Cambria Math" panose="02040503050406030204" pitchFamily="18" charset="0"/>
                        </a:rPr>
                        <m:t>=0.40+0.03</m:t>
                      </m:r>
                    </m:oMath>
                  </m:oMathPara>
                </a14:m>
                <a:endParaRPr lang="en-US" sz="2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US" sz="2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 dirty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600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600" i="0" dirty="0">
                              <a:latin typeface="Cambria Math" panose="02040503050406030204" pitchFamily="18" charset="0"/>
                            </a:rPr>
                            <m:t>=0.43</m:t>
                          </m:r>
                        </m:e>
                      </m:borderBox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942454-AE6A-F2AF-F55B-BBEB7B7FF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6372" y="1690688"/>
                <a:ext cx="11155680" cy="4486275"/>
              </a:xfrm>
              <a:blipFill>
                <a:blip r:embed="rId2"/>
                <a:stretch>
                  <a:fillRect l="-909" t="-563" r="-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883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ADDE-7FA3-B90B-B4F7-BCADA9686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61F3E5-E50F-1790-79A9-A4A02D34A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07765"/>
              </p:ext>
            </p:extLst>
          </p:nvPr>
        </p:nvGraphicFramePr>
        <p:xfrm>
          <a:off x="838200" y="1825625"/>
          <a:ext cx="10515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466014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391289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86525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12591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623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623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Many Independent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Many Sequential Trees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3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Original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Bootstrap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model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622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 Decision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variance and 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Progressively reduce prediction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382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tree’s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Voting/Average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Combined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139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Interpretability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621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030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6134-81E4-8E5B-88AF-F6A6A8A24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FA8EC2-72BC-5887-4FFE-1AB531EB9D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Accuracy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Precision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Recall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Precision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Recall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FA8EC2-72BC-5887-4FFE-1AB531EB9D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6090AB-8D95-69E6-21CF-B40F37D00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289053"/>
              </p:ext>
            </p:extLst>
          </p:nvPr>
        </p:nvGraphicFramePr>
        <p:xfrm>
          <a:off x="6371813" y="2872740"/>
          <a:ext cx="533250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370">
                  <a:extLst>
                    <a:ext uri="{9D8B030D-6E8A-4147-A177-3AD203B41FA5}">
                      <a16:colId xmlns:a16="http://schemas.microsoft.com/office/drawing/2014/main" val="1182378963"/>
                    </a:ext>
                  </a:extLst>
                </a:gridCol>
                <a:gridCol w="1595588">
                  <a:extLst>
                    <a:ext uri="{9D8B030D-6E8A-4147-A177-3AD203B41FA5}">
                      <a16:colId xmlns:a16="http://schemas.microsoft.com/office/drawing/2014/main" val="324422858"/>
                    </a:ext>
                  </a:extLst>
                </a:gridCol>
                <a:gridCol w="1623549">
                  <a:extLst>
                    <a:ext uri="{9D8B030D-6E8A-4147-A177-3AD203B41FA5}">
                      <a16:colId xmlns:a16="http://schemas.microsoft.com/office/drawing/2014/main" val="2956221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Confusion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Predicted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Predicted 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947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Actual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23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Actual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 Negative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981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4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756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Project Idea: Multi-Model Clinical System</vt:lpstr>
      <vt:lpstr>Specialized Models + LLM</vt:lpstr>
      <vt:lpstr>Time-Based Patient Outlook</vt:lpstr>
      <vt:lpstr>Research Goal</vt:lpstr>
      <vt:lpstr>Decision Trees, Random Forests, XGBoost</vt:lpstr>
      <vt:lpstr>What are Tree-Based Models?</vt:lpstr>
      <vt:lpstr>Our Example Medical Problem: Sepsis Risk</vt:lpstr>
      <vt:lpstr>Decision Trees</vt:lpstr>
      <vt:lpstr>How Does a Tree Learn?</vt:lpstr>
      <vt:lpstr>Gini Impurity Example</vt:lpstr>
      <vt:lpstr>PowerPoint Presentation</vt:lpstr>
      <vt:lpstr>The Problem With Decision Trees: Overfitting</vt:lpstr>
      <vt:lpstr>From One Tree to a Forest</vt:lpstr>
      <vt:lpstr>How Random Forest Creates Different Trees</vt:lpstr>
      <vt:lpstr>What is Boosting?</vt:lpstr>
      <vt:lpstr>XGBoost: Extreme Gradient Boosting</vt:lpstr>
      <vt:lpstr>XGBoost: Example</vt:lpstr>
      <vt:lpstr>Tree Comparison</vt:lpstr>
      <vt:lpstr>Model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Wondell, Caden</dc:creator>
  <cp:lastModifiedBy>Wondell, Caden</cp:lastModifiedBy>
  <cp:revision>75</cp:revision>
  <dcterms:created xsi:type="dcterms:W3CDTF">2026-09-24T02:35:46Z</dcterms:created>
  <dcterms:modified xsi:type="dcterms:W3CDTF">2026-09-24T21:24:02Z</dcterms:modified>
</cp:coreProperties>
</file>